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  <p:sldMasterId id="2147483701" r:id="rId3"/>
  </p:sldMasterIdLst>
  <p:notesMasterIdLst>
    <p:notesMasterId r:id="rId9"/>
  </p:notesMasterIdLst>
  <p:sldIdLst>
    <p:sldId id="369" r:id="rId4"/>
    <p:sldId id="368" r:id="rId5"/>
    <p:sldId id="370" r:id="rId6"/>
    <p:sldId id="372" r:id="rId7"/>
    <p:sldId id="371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0070C0"/>
    <a:srgbClr val="FFFFCC"/>
    <a:srgbClr val="99FFCC"/>
    <a:srgbClr val="761E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442" autoAdjust="0"/>
  </p:normalViewPr>
  <p:slideViewPr>
    <p:cSldViewPr>
      <p:cViewPr>
        <p:scale>
          <a:sx n="75" d="100"/>
          <a:sy n="75" d="100"/>
        </p:scale>
        <p:origin x="-101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37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30C673-646D-4368-AC67-734F20D1553C}" type="datetimeFigureOut">
              <a:rPr lang="en-US" smtClean="0"/>
              <a:t>12/20/2018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30D693-10D0-4EBE-BAA1-5B42F66F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862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92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smtClean="0"/>
          </a:p>
        </p:txBody>
      </p:sp>
      <p:sp>
        <p:nvSpPr>
          <p:cNvPr id="179204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620" tIns="44810" rIns="89620" bIns="44810" anchor="b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r" eaLnBrk="1" hangingPunct="1"/>
            <a:fld id="{CDCBD27E-63E3-41F2-B5B6-AC5F4DB1F9AB}" type="slidenum">
              <a:rPr lang="en-US" altLang="en-US" sz="1200">
                <a:solidFill>
                  <a:srgbClr val="000000"/>
                </a:solidFill>
                <a:latin typeface="Arial" charset="0"/>
              </a:rPr>
              <a:pPr algn="r" eaLnBrk="1" hangingPunct="1"/>
              <a:t>2</a:t>
            </a:fld>
            <a:endParaRPr lang="en-US" altLang="en-US" sz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79205" name="Date Placeholder 4"/>
          <p:cNvSpPr txBox="1">
            <a:spLocks noGrp="1"/>
          </p:cNvSpPr>
          <p:nvPr/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620" tIns="44810" rIns="89620" bIns="44810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r" eaLnBrk="1" hangingPunct="1"/>
            <a:endParaRPr lang="en-US" altLang="en-US" sz="1200">
              <a:solidFill>
                <a:srgbClr val="000000"/>
              </a:solidFill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81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smtClean="0"/>
          </a:p>
        </p:txBody>
      </p:sp>
      <p:sp>
        <p:nvSpPr>
          <p:cNvPr id="178180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620" tIns="44810" rIns="89620" bIns="44810" anchor="b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r" eaLnBrk="1" hangingPunct="1"/>
            <a:fld id="{4A4D3AC4-4541-4A2D-B7DF-18847AC91486}" type="slidenum">
              <a:rPr lang="en-US" altLang="en-US" sz="1200">
                <a:solidFill>
                  <a:srgbClr val="000000"/>
                </a:solidFill>
                <a:latin typeface="Arial" charset="0"/>
              </a:rPr>
              <a:pPr algn="r" eaLnBrk="1" hangingPunct="1"/>
              <a:t>3</a:t>
            </a:fld>
            <a:endParaRPr lang="en-US" altLang="en-US" sz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78181" name="Date Placeholder 4"/>
          <p:cNvSpPr txBox="1">
            <a:spLocks noGrp="1"/>
          </p:cNvSpPr>
          <p:nvPr/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620" tIns="44810" rIns="89620" bIns="44810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r" eaLnBrk="1" hangingPunct="1"/>
            <a:endParaRPr lang="en-US" altLang="en-US" sz="1200">
              <a:solidFill>
                <a:srgbClr val="000000"/>
              </a:solidFill>
              <a:latin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EFEA9-213A-47FA-88EA-E7E9FF3A66F3}" type="datetimeFigureOut">
              <a:rPr lang="en-GB" smtClean="0"/>
              <a:t>20/12/2018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81910-C9B7-425B-93C1-F24A220DC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537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EFEA9-213A-47FA-88EA-E7E9FF3A66F3}" type="datetimeFigureOut">
              <a:rPr lang="en-GB" smtClean="0"/>
              <a:t>20/12/2018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81910-C9B7-425B-93C1-F24A220DC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189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EFEA9-213A-47FA-88EA-E7E9FF3A66F3}" type="datetimeFigureOut">
              <a:rPr lang="en-GB" smtClean="0"/>
              <a:t>20/12/2018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81910-C9B7-425B-93C1-F24A220DC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597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EFEA9-213A-47FA-88EA-E7E9FF3A66F3}" type="datetimeFigureOut">
              <a:rPr lang="en-GB" smtClean="0"/>
              <a:t>20/12/2018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81910-C9B7-425B-93C1-F24A220DC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559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EFEA9-213A-47FA-88EA-E7E9FF3A66F3}" type="datetimeFigureOut">
              <a:rPr lang="en-GB" smtClean="0"/>
              <a:t>20/12/2018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81910-C9B7-425B-93C1-F24A220DC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152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EFEA9-213A-47FA-88EA-E7E9FF3A66F3}" type="datetimeFigureOut">
              <a:rPr lang="en-GB" smtClean="0"/>
              <a:t>20/12/2018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81910-C9B7-425B-93C1-F24A220DC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359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EFEA9-213A-47FA-88EA-E7E9FF3A66F3}" type="datetimeFigureOut">
              <a:rPr lang="en-GB" smtClean="0"/>
              <a:t>20/12/2018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81910-C9B7-425B-93C1-F24A220DC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891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EFEA9-213A-47FA-88EA-E7E9FF3A66F3}" type="datetimeFigureOut">
              <a:rPr lang="en-GB" smtClean="0"/>
              <a:t>20/12/2018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81910-C9B7-425B-93C1-F24A220DC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761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EFEA9-213A-47FA-88EA-E7E9FF3A66F3}" type="datetimeFigureOut">
              <a:rPr lang="en-GB" smtClean="0"/>
              <a:t>20/12/2018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81910-C9B7-425B-93C1-F24A220DC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441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EFEA9-213A-47FA-88EA-E7E9FF3A66F3}" type="datetimeFigureOut">
              <a:rPr lang="en-GB" smtClean="0"/>
              <a:t>20/12/2018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81910-C9B7-425B-93C1-F24A220DC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643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EFEA9-213A-47FA-88EA-E7E9FF3A66F3}" type="datetimeFigureOut">
              <a:rPr lang="en-GB" smtClean="0"/>
              <a:t>20/12/2018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81910-C9B7-425B-93C1-F24A220DC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9424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33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89BFF-FBDE-4955-8C1E-707EDE474858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20-12-2018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D9439-A019-4B26-A965-F764265317BE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14322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89BFF-FBDE-4955-8C1E-707EDE474858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20-12-2018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D9439-A019-4B26-A965-F764265317BE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6211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8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89BFF-FBDE-4955-8C1E-707EDE474858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20-12-2018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D9439-A019-4B26-A965-F764265317BE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07101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89BFF-FBDE-4955-8C1E-707EDE474858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20-12-2018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D9439-A019-4B26-A965-F764265317BE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75196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89BFF-FBDE-4955-8C1E-707EDE474858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20-12-2018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D9439-A019-4B26-A965-F764265317BE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29784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89BFF-FBDE-4955-8C1E-707EDE474858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20-12-2018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D9439-A019-4B26-A965-F764265317BE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10515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89BFF-FBDE-4955-8C1E-707EDE474858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20-12-2018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D9439-A019-4B26-A965-F764265317BE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7750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89BFF-FBDE-4955-8C1E-707EDE474858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20-12-2018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D9439-A019-4B26-A965-F764265317BE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88043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89BFF-FBDE-4955-8C1E-707EDE474858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20-12-2018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D9439-A019-4B26-A965-F764265317BE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0419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89BFF-FBDE-4955-8C1E-707EDE474858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20-12-2018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D9439-A019-4B26-A965-F764265317BE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771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89BFF-FBDE-4955-8C1E-707EDE474858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20-12-2018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D9439-A019-4B26-A965-F764265317BE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62723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defTabSz="914400">
              <a:defRPr/>
            </a:lvl1pPr>
          </a:lstStyle>
          <a:p>
            <a:pPr>
              <a:defRPr/>
            </a:pPr>
            <a:fld id="{3445BD1D-7F01-4766-9D76-15116978EDA8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17167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5623564" y="6527357"/>
            <a:ext cx="2895600" cy="207464"/>
          </a:xfrm>
          <a:prstGeom prst="rect">
            <a:avLst/>
          </a:prstGeom>
        </p:spPr>
        <p:txBody>
          <a:bodyPr/>
          <a:lstStyle>
            <a:lvl1pPr defTabSz="685800"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defTabSz="685800">
              <a:defRPr/>
            </a:lvl1pPr>
          </a:lstStyle>
          <a:p>
            <a:pPr>
              <a:defRPr/>
            </a:pPr>
            <a:fld id="{3445BD1D-7F01-4766-9D76-15116978EDA8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13705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Width Head + Bold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="" xmlns:a16="http://schemas.microsoft.com/office/drawing/2014/main" id="{C6588A33-A895-4845-ACA4-04304063DD0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7904025"/>
              </p:ext>
            </p:extLst>
          </p:nvPr>
        </p:nvGraphicFramePr>
        <p:xfrm>
          <a:off x="1593" y="2119"/>
          <a:ext cx="1587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think-cell Slide" r:id="rId4" imgW="421" imgH="420" progId="TCLayout.ActiveDocument.1">
                  <p:embed/>
                </p:oleObj>
              </mc:Choice>
              <mc:Fallback>
                <p:oleObj name="think-cell Slide" r:id="rId4" imgW="421" imgH="42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93" y="2119"/>
                        <a:ext cx="1587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65152" y="1198109"/>
            <a:ext cx="8329613" cy="398213"/>
          </a:xfrm>
          <a:prstGeom prst="rect">
            <a:avLst/>
          </a:prstGeom>
        </p:spPr>
        <p:txBody>
          <a:bodyPr/>
          <a:lstStyle>
            <a:lvl1pPr>
              <a:lnSpc>
                <a:spcPts val="1600"/>
              </a:lnSpc>
              <a:spcBef>
                <a:spcPts val="0"/>
              </a:spcBef>
              <a:defRPr sz="1400" b="1" baseline="0"/>
            </a:lvl1pPr>
            <a:lvl2pPr marL="171450" indent="-171450">
              <a:spcBef>
                <a:spcPts val="336"/>
              </a:spcBef>
              <a:spcAft>
                <a:spcPts val="0"/>
              </a:spcAft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§"/>
              <a:defRPr sz="1300"/>
            </a:lvl2pPr>
            <a:lvl3pPr marL="342900" indent="-171450">
              <a:spcBef>
                <a:spcPts val="336"/>
              </a:spcBef>
              <a:buClr>
                <a:srgbClr val="3086AB"/>
              </a:buClr>
              <a:buFont typeface="Arial" panose="020B0604020202020204" pitchFamily="34" charset="0"/>
              <a:buChar char="•"/>
              <a:tabLst/>
              <a:defRPr baseline="0"/>
            </a:lvl3pPr>
            <a:lvl4pPr marL="515938" indent="-173038">
              <a:spcBef>
                <a:spcPts val="336"/>
              </a:spcBef>
              <a:spcAft>
                <a:spcPts val="0"/>
              </a:spcAft>
              <a:buFont typeface="Arial" panose="020B0604020202020204" pitchFamily="34" charset="0"/>
              <a:buChar char="-"/>
              <a:tabLst/>
              <a:defRPr baseline="0"/>
            </a:lvl4pPr>
            <a:lvl5pPr marL="687388" indent="-171450">
              <a:spcBef>
                <a:spcPts val="336"/>
              </a:spcBef>
              <a:defRPr baseline="0"/>
            </a:lvl5pPr>
          </a:lstStyle>
          <a:p>
            <a:pPr lvl="0"/>
            <a:r>
              <a:rPr lang="en-US" dirty="0"/>
              <a:t>Insert bullet list at full-width </a:t>
            </a:r>
            <a:r>
              <a:rPr lang="en-US"/>
              <a:t>of slide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5623564" y="6527357"/>
            <a:ext cx="2895600" cy="207464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>
                <a:solidFill>
                  <a:srgbClr val="000000"/>
                </a:solidFill>
              </a:rPr>
              <a:t>© Bill &amp; Melinda Gates Foundation      |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3F7C509-FEEF-45D3-B896-7C07814C0C13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365151" y="1716751"/>
            <a:ext cx="8347075" cy="4221604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1300"/>
            </a:lvl1pPr>
            <a:lvl2pPr>
              <a:spcBef>
                <a:spcPts val="600"/>
              </a:spcBef>
              <a:defRPr sz="1300"/>
            </a:lvl2pPr>
            <a:lvl3pPr>
              <a:spcBef>
                <a:spcPts val="600"/>
              </a:spcBef>
              <a:defRPr sz="1200"/>
            </a:lvl3pPr>
            <a:lvl4pPr>
              <a:spcBef>
                <a:spcPts val="600"/>
              </a:spcBef>
              <a:defRPr sz="1100"/>
            </a:lvl4pPr>
            <a:lvl5pPr>
              <a:spcBef>
                <a:spcPts val="600"/>
              </a:spcBef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5152" y="324730"/>
            <a:ext cx="8329613" cy="697577"/>
          </a:xfrm>
          <a:prstGeom prst="rect">
            <a:avLst/>
          </a:prstGeom>
        </p:spPr>
        <p:txBody>
          <a:bodyPr/>
          <a:lstStyle>
            <a:lvl1pPr>
              <a:defRPr b="1" baseline="0"/>
            </a:lvl1pPr>
          </a:lstStyle>
          <a:p>
            <a:r>
              <a:rPr lang="en-US" dirty="0"/>
              <a:t>INSERT HEADLINE HERE – UP TO 2 FULL WIDTH LINES (ALL CAPS)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365127" y="6550187"/>
            <a:ext cx="5216526" cy="11541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4965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78"/>
            <a:ext cx="2133600" cy="365125"/>
          </a:xfrm>
          <a:prstGeom prst="rect">
            <a:avLst/>
          </a:prstGeom>
        </p:spPr>
        <p:txBody>
          <a:bodyPr/>
          <a:lstStyle/>
          <a:p>
            <a:fld id="{D5695059-C3CC-4BA5-9A09-D352F7BDE3A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12/20/2018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78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Title 1"/>
          <p:cNvSpPr>
            <a:spLocks noGrp="1"/>
          </p:cNvSpPr>
          <p:nvPr>
            <p:ph type="ctrTitle"/>
          </p:nvPr>
        </p:nvSpPr>
        <p:spPr>
          <a:xfrm>
            <a:off x="579968" y="407999"/>
            <a:ext cx="7772400" cy="506413"/>
          </a:xfrm>
          <a:prstGeom prst="rect">
            <a:avLst/>
          </a:prstGeom>
        </p:spPr>
        <p:txBody>
          <a:bodyPr/>
          <a:lstStyle>
            <a:lvl1pPr algn="l">
              <a:defRPr sz="2800" b="0">
                <a:solidFill>
                  <a:srgbClr val="333399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  <a:p>
            <a:fld id="{20E72F2D-B2AC-6244-8A61-4DB2981BEBB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579447" y="1574801"/>
            <a:ext cx="7954961" cy="3492500"/>
          </a:xfrm>
          <a:prstGeom prst="rect">
            <a:avLst/>
          </a:prstGeom>
        </p:spPr>
        <p:txBody>
          <a:bodyPr vert="horz"/>
          <a:lstStyle>
            <a:lvl1pPr>
              <a:defRPr sz="2800">
                <a:latin typeface="Arial"/>
                <a:cs typeface="Arial"/>
              </a:defRPr>
            </a:lvl1pPr>
            <a:lvl2pPr>
              <a:defRPr sz="2400"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7983276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ull Width Head + Copy -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65129" y="1718734"/>
            <a:ext cx="8329613" cy="4519084"/>
          </a:xfrm>
        </p:spPr>
        <p:txBody>
          <a:bodyPr/>
          <a:lstStyle>
            <a:lvl1pPr>
              <a:spcBef>
                <a:spcPts val="448"/>
              </a:spcBef>
              <a:defRPr sz="1867" b="0" baseline="0"/>
            </a:lvl1pPr>
            <a:lvl2pPr marL="228594" indent="-228594">
              <a:spcBef>
                <a:spcPts val="448"/>
              </a:spcBef>
              <a:spcAft>
                <a:spcPts val="0"/>
              </a:spcAft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§"/>
              <a:defRPr sz="1733"/>
            </a:lvl2pPr>
            <a:lvl3pPr marL="457189" indent="-228594">
              <a:spcBef>
                <a:spcPts val="448"/>
              </a:spcBef>
              <a:buClr>
                <a:srgbClr val="3086AB"/>
              </a:buClr>
              <a:buFont typeface="Arial" panose="020B0604020202020204" pitchFamily="34" charset="0"/>
              <a:buChar char="•"/>
              <a:tabLst/>
              <a:defRPr baseline="0"/>
            </a:lvl3pPr>
            <a:lvl4pPr marL="687900" indent="-230712">
              <a:spcBef>
                <a:spcPts val="448"/>
              </a:spcBef>
              <a:spcAft>
                <a:spcPts val="0"/>
              </a:spcAft>
              <a:buFont typeface="Arial" panose="020B0604020202020204" pitchFamily="34" charset="0"/>
              <a:buChar char="-"/>
              <a:tabLst/>
              <a:defRPr baseline="0"/>
            </a:lvl4pPr>
            <a:lvl5pPr marL="916494" indent="-228594">
              <a:spcBef>
                <a:spcPts val="448"/>
              </a:spcBef>
              <a:defRPr baseline="0"/>
            </a:lvl5pPr>
          </a:lstStyle>
          <a:p>
            <a:pPr lvl="0"/>
            <a:r>
              <a:rPr lang="en-US" dirty="0"/>
              <a:t>Insert bullet list at full-width of slide</a:t>
            </a:r>
          </a:p>
          <a:p>
            <a:pPr lvl="1"/>
            <a:r>
              <a:rPr lang="en-US" dirty="0"/>
              <a:t>Bullet list level two</a:t>
            </a:r>
          </a:p>
          <a:p>
            <a:pPr lvl="2"/>
            <a:r>
              <a:rPr lang="en-US" dirty="0"/>
              <a:t>Bullet list level three</a:t>
            </a:r>
          </a:p>
          <a:p>
            <a:pPr lvl="3"/>
            <a:r>
              <a:rPr lang="en-US" dirty="0"/>
              <a:t>Bullet list level four</a:t>
            </a:r>
          </a:p>
          <a:p>
            <a:pPr lvl="4"/>
            <a:r>
              <a:rPr lang="en-US" dirty="0"/>
              <a:t>Bullet list level five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 dirty="0">
                <a:solidFill>
                  <a:srgbClr val="000000"/>
                </a:solidFill>
              </a:rPr>
              <a:t>© 2018 Bill &amp; Melinda Gates Foundation      |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3F7C509-FEEF-45D3-B896-7C07814C0C13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5129" y="629578"/>
            <a:ext cx="8329613" cy="697577"/>
          </a:xfrm>
        </p:spPr>
        <p:txBody>
          <a:bodyPr/>
          <a:lstStyle/>
          <a:p>
            <a:r>
              <a:rPr lang="en-US"/>
              <a:t>insert headline here – up to 2 full width lines (all caps)</a:t>
            </a:r>
          </a:p>
        </p:txBody>
      </p:sp>
    </p:spTree>
    <p:extLst>
      <p:ext uri="{BB962C8B-B14F-4D97-AF65-F5344CB8AC3E}">
        <p14:creationId xmlns:p14="http://schemas.microsoft.com/office/powerpoint/2010/main" val="977828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51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536A9-F92E-4AE7-BE17-7EE1648EF0AA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20-12-2018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995AF-1F52-4D79-806D-279D86BBFD98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63898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536A9-F92E-4AE7-BE17-7EE1648EF0AA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20-12-2018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995AF-1F52-4D79-806D-279D86BBFD98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55124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9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536A9-F92E-4AE7-BE17-7EE1648EF0AA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20-12-2018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995AF-1F52-4D79-806D-279D86BBFD98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345787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6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6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536A9-F92E-4AE7-BE17-7EE1648EF0AA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20-12-2018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995AF-1F52-4D79-806D-279D86BBFD98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44887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536A9-F92E-4AE7-BE17-7EE1648EF0AA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20-12-2018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995AF-1F52-4D79-806D-279D86BBFD98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58399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536A9-F92E-4AE7-BE17-7EE1648EF0AA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20-12-2018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995AF-1F52-4D79-806D-279D86BBFD98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567255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536A9-F92E-4AE7-BE17-7EE1648EF0AA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20-12-2018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995AF-1F52-4D79-806D-279D86BBFD98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779868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97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536A9-F92E-4AE7-BE17-7EE1648EF0AA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20-12-2018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995AF-1F52-4D79-806D-279D86BBFD98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05958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536A9-F92E-4AE7-BE17-7EE1648EF0AA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20-12-2018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995AF-1F52-4D79-806D-279D86BBFD98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651261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536A9-F92E-4AE7-BE17-7EE1648EF0AA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20-12-2018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995AF-1F52-4D79-806D-279D86BBFD98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269369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84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84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536A9-F92E-4AE7-BE17-7EE1648EF0AA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20-12-2018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995AF-1F52-4D79-806D-279D86BBFD98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2875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EEFEA9-213A-47FA-88EA-E7E9FF3A66F3}" type="datetimeFigureOut">
              <a:rPr lang="en-GB" smtClean="0"/>
              <a:t>20/12/2018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081910-C9B7-425B-93C1-F24A220DC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405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A89BFF-FBDE-4955-8C1E-707EDE474858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20-12-2018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8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2D9439-A019-4B26-A965-F764265317BE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1926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44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C536A9-F92E-4AE7-BE17-7EE1648EF0AA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20-12-2018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44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44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F995AF-1F52-4D79-806D-279D86BBFD98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9736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60648"/>
            <a:ext cx="8640960" cy="2952328"/>
          </a:xfrm>
          <a:solidFill>
            <a:srgbClr val="FFFF00"/>
          </a:solidFill>
        </p:spPr>
        <p:txBody>
          <a:bodyPr>
            <a:normAutofit fontScale="90000"/>
          </a:bodyPr>
          <a:lstStyle/>
          <a:p>
            <a:r>
              <a:rPr lang="en-US" dirty="0" smtClean="0"/>
              <a:t>Pulse Polio National Immunization Day (NID)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3</a:t>
            </a:r>
            <a:r>
              <a:rPr lang="en-US" baseline="30000" dirty="0" smtClean="0"/>
              <a:t>rd</a:t>
            </a:r>
            <a:r>
              <a:rPr lang="en-US" dirty="0" smtClean="0"/>
              <a:t> February 2019</a:t>
            </a:r>
            <a:br>
              <a:rPr lang="en-US" dirty="0" smtClean="0"/>
            </a:b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1640" y="4581128"/>
            <a:ext cx="6400800" cy="1752600"/>
          </a:xfrm>
        </p:spPr>
        <p:txBody>
          <a:bodyPr>
            <a:normAutofit/>
          </a:bodyPr>
          <a:lstStyle/>
          <a:p>
            <a:r>
              <a:rPr lang="en-US" dirty="0" smtClean="0"/>
              <a:t>Timeline for Districts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969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145412" name="Rectangle 2"/>
            <p:cNvSpPr>
              <a:spLocks noChangeArrowheads="1"/>
            </p:cNvSpPr>
            <p:nvPr/>
          </p:nvSpPr>
          <p:spPr bwMode="auto">
            <a:xfrm>
              <a:off x="323850" y="520701"/>
              <a:ext cx="8712200" cy="55795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" name="Freeform 5"/>
            <p:cNvSpPr/>
            <p:nvPr/>
          </p:nvSpPr>
          <p:spPr bwMode="auto">
            <a:xfrm>
              <a:off x="361950" y="527690"/>
              <a:ext cx="688975" cy="588420"/>
            </a:xfrm>
            <a:custGeom>
              <a:avLst/>
              <a:gdLst>
                <a:gd name="connsiteX0" fmla="*/ 0 w 668845"/>
                <a:gd name="connsiteY0" fmla="*/ 0 h 688063"/>
                <a:gd name="connsiteX1" fmla="*/ 334423 w 668845"/>
                <a:gd name="connsiteY1" fmla="*/ 0 h 688063"/>
                <a:gd name="connsiteX2" fmla="*/ 668845 w 668845"/>
                <a:gd name="connsiteY2" fmla="*/ 344032 h 688063"/>
                <a:gd name="connsiteX3" fmla="*/ 334423 w 668845"/>
                <a:gd name="connsiteY3" fmla="*/ 688063 h 688063"/>
                <a:gd name="connsiteX4" fmla="*/ 0 w 668845"/>
                <a:gd name="connsiteY4" fmla="*/ 688063 h 688063"/>
                <a:gd name="connsiteX5" fmla="*/ 334423 w 668845"/>
                <a:gd name="connsiteY5" fmla="*/ 344032 h 688063"/>
                <a:gd name="connsiteX6" fmla="*/ 0 w 668845"/>
                <a:gd name="connsiteY6" fmla="*/ 0 h 688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8845" h="688063">
                  <a:moveTo>
                    <a:pt x="668845" y="0"/>
                  </a:moveTo>
                  <a:lnTo>
                    <a:pt x="668845" y="344032"/>
                  </a:lnTo>
                  <a:lnTo>
                    <a:pt x="334422" y="688063"/>
                  </a:lnTo>
                  <a:lnTo>
                    <a:pt x="0" y="344032"/>
                  </a:lnTo>
                  <a:lnTo>
                    <a:pt x="0" y="0"/>
                  </a:lnTo>
                  <a:lnTo>
                    <a:pt x="334422" y="344032"/>
                  </a:lnTo>
                  <a:lnTo>
                    <a:pt x="668845" y="0"/>
                  </a:lnTo>
                  <a:close/>
                </a:path>
              </a:pathLst>
            </a:custGeom>
            <a:solidFill>
              <a:srgbClr val="ABDBFF"/>
            </a:solidFill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0160" tIns="10160" rIns="10160" bIns="10160" spcCol="1270" anchor="ctr"/>
            <a:lstStyle/>
            <a:p>
              <a:pPr algn="ctr" defTabSz="7112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GB" sz="16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Freeform 6"/>
            <p:cNvSpPr/>
            <p:nvPr/>
          </p:nvSpPr>
          <p:spPr bwMode="auto">
            <a:xfrm>
              <a:off x="1119188" y="520701"/>
              <a:ext cx="7916862" cy="385758"/>
            </a:xfrm>
            <a:custGeom>
              <a:avLst/>
              <a:gdLst>
                <a:gd name="connsiteX0" fmla="*/ 73004 w 438014"/>
                <a:gd name="connsiteY0" fmla="*/ 0 h 7917016"/>
                <a:gd name="connsiteX1" fmla="*/ 365010 w 438014"/>
                <a:gd name="connsiteY1" fmla="*/ 0 h 7917016"/>
                <a:gd name="connsiteX2" fmla="*/ 438014 w 438014"/>
                <a:gd name="connsiteY2" fmla="*/ 73004 h 7917016"/>
                <a:gd name="connsiteX3" fmla="*/ 438014 w 438014"/>
                <a:gd name="connsiteY3" fmla="*/ 7917016 h 7917016"/>
                <a:gd name="connsiteX4" fmla="*/ 438014 w 438014"/>
                <a:gd name="connsiteY4" fmla="*/ 7917016 h 7917016"/>
                <a:gd name="connsiteX5" fmla="*/ 0 w 438014"/>
                <a:gd name="connsiteY5" fmla="*/ 7917016 h 7917016"/>
                <a:gd name="connsiteX6" fmla="*/ 0 w 438014"/>
                <a:gd name="connsiteY6" fmla="*/ 7917016 h 7917016"/>
                <a:gd name="connsiteX7" fmla="*/ 0 w 438014"/>
                <a:gd name="connsiteY7" fmla="*/ 73004 h 7917016"/>
                <a:gd name="connsiteX8" fmla="*/ 73004 w 438014"/>
                <a:gd name="connsiteY8" fmla="*/ 0 h 7917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8014" h="7917016">
                  <a:moveTo>
                    <a:pt x="438014" y="1319539"/>
                  </a:moveTo>
                  <a:lnTo>
                    <a:pt x="438014" y="6597477"/>
                  </a:lnTo>
                  <a:cubicBezTo>
                    <a:pt x="438014" y="7326233"/>
                    <a:pt x="436206" y="7917007"/>
                    <a:pt x="433975" y="7917007"/>
                  </a:cubicBezTo>
                  <a:lnTo>
                    <a:pt x="0" y="7917007"/>
                  </a:lnTo>
                  <a:lnTo>
                    <a:pt x="0" y="7917007"/>
                  </a:lnTo>
                  <a:lnTo>
                    <a:pt x="0" y="9"/>
                  </a:lnTo>
                  <a:lnTo>
                    <a:pt x="0" y="9"/>
                  </a:lnTo>
                  <a:lnTo>
                    <a:pt x="433975" y="9"/>
                  </a:lnTo>
                  <a:cubicBezTo>
                    <a:pt x="436206" y="9"/>
                    <a:pt x="438014" y="590783"/>
                    <a:pt x="438014" y="1319539"/>
                  </a:cubicBezTo>
                  <a:close/>
                </a:path>
              </a:pathLst>
            </a:custGeom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13792" tIns="31542" rIns="31542" bIns="31542" spcCol="1270" anchor="ctr"/>
            <a:lstStyle/>
            <a:p>
              <a:pPr marL="0" lvl="1" defTabSz="711200">
                <a:lnSpc>
                  <a:spcPct val="90000"/>
                </a:lnSpc>
                <a:spcAft>
                  <a:spcPct val="15000"/>
                </a:spcAft>
                <a:defRPr/>
              </a:pPr>
              <a:r>
                <a:rPr lang="en-US" sz="1500" b="1" dirty="0" smtClean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&lt;</a:t>
              </a:r>
              <a:r>
                <a:rPr lang="en-US" sz="1600" b="1" dirty="0">
                  <a:solidFill>
                    <a:srgbClr val="000000"/>
                  </a:solidFill>
                  <a:latin typeface="Calibri" pitchFamily="34" charset="0"/>
                </a:rPr>
                <a:t>20/12/18</a:t>
              </a:r>
              <a:r>
                <a:rPr lang="en-US" sz="1500" b="1" dirty="0" smtClean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– </a:t>
              </a:r>
              <a:r>
                <a:rPr lang="en-US" sz="1500" b="1" dirty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District IPPI workshops / Micro-planning meetings / Urban Area planning meetings</a:t>
              </a:r>
              <a:endParaRPr lang="en-GB" sz="1500" b="1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Freeform 7"/>
            <p:cNvSpPr/>
            <p:nvPr/>
          </p:nvSpPr>
          <p:spPr bwMode="auto">
            <a:xfrm>
              <a:off x="361950" y="1076975"/>
              <a:ext cx="688975" cy="532514"/>
            </a:xfrm>
            <a:custGeom>
              <a:avLst/>
              <a:gdLst>
                <a:gd name="connsiteX0" fmla="*/ 0 w 603864"/>
                <a:gd name="connsiteY0" fmla="*/ 0 h 688063"/>
                <a:gd name="connsiteX1" fmla="*/ 301932 w 603864"/>
                <a:gd name="connsiteY1" fmla="*/ 0 h 688063"/>
                <a:gd name="connsiteX2" fmla="*/ 603864 w 603864"/>
                <a:gd name="connsiteY2" fmla="*/ 344032 h 688063"/>
                <a:gd name="connsiteX3" fmla="*/ 301932 w 603864"/>
                <a:gd name="connsiteY3" fmla="*/ 688063 h 688063"/>
                <a:gd name="connsiteX4" fmla="*/ 0 w 603864"/>
                <a:gd name="connsiteY4" fmla="*/ 688063 h 688063"/>
                <a:gd name="connsiteX5" fmla="*/ 301932 w 603864"/>
                <a:gd name="connsiteY5" fmla="*/ 344032 h 688063"/>
                <a:gd name="connsiteX6" fmla="*/ 0 w 603864"/>
                <a:gd name="connsiteY6" fmla="*/ 0 h 688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3864" h="688063">
                  <a:moveTo>
                    <a:pt x="603864" y="1"/>
                  </a:moveTo>
                  <a:lnTo>
                    <a:pt x="603864" y="344032"/>
                  </a:lnTo>
                  <a:lnTo>
                    <a:pt x="301932" y="688062"/>
                  </a:lnTo>
                  <a:lnTo>
                    <a:pt x="0" y="344032"/>
                  </a:lnTo>
                  <a:lnTo>
                    <a:pt x="0" y="1"/>
                  </a:lnTo>
                  <a:lnTo>
                    <a:pt x="301932" y="344032"/>
                  </a:lnTo>
                  <a:lnTo>
                    <a:pt x="603864" y="1"/>
                  </a:lnTo>
                  <a:close/>
                </a:path>
              </a:pathLst>
            </a:custGeom>
            <a:solidFill>
              <a:srgbClr val="ABDBFF"/>
            </a:solidFill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0161" tIns="10160" rIns="10160" bIns="10161" spcCol="1270" anchor="ctr"/>
            <a:lstStyle/>
            <a:p>
              <a:pPr algn="ctr" defTabSz="7112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GB" sz="16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Freeform 8"/>
            <p:cNvSpPr/>
            <p:nvPr/>
          </p:nvSpPr>
          <p:spPr bwMode="auto">
            <a:xfrm>
              <a:off x="1119188" y="1005694"/>
              <a:ext cx="7916862" cy="352214"/>
            </a:xfrm>
            <a:custGeom>
              <a:avLst/>
              <a:gdLst>
                <a:gd name="connsiteX0" fmla="*/ 66721 w 400320"/>
                <a:gd name="connsiteY0" fmla="*/ 0 h 7917016"/>
                <a:gd name="connsiteX1" fmla="*/ 333599 w 400320"/>
                <a:gd name="connsiteY1" fmla="*/ 0 h 7917016"/>
                <a:gd name="connsiteX2" fmla="*/ 400320 w 400320"/>
                <a:gd name="connsiteY2" fmla="*/ 66721 h 7917016"/>
                <a:gd name="connsiteX3" fmla="*/ 400320 w 400320"/>
                <a:gd name="connsiteY3" fmla="*/ 7917016 h 7917016"/>
                <a:gd name="connsiteX4" fmla="*/ 400320 w 400320"/>
                <a:gd name="connsiteY4" fmla="*/ 7917016 h 7917016"/>
                <a:gd name="connsiteX5" fmla="*/ 0 w 400320"/>
                <a:gd name="connsiteY5" fmla="*/ 7917016 h 7917016"/>
                <a:gd name="connsiteX6" fmla="*/ 0 w 400320"/>
                <a:gd name="connsiteY6" fmla="*/ 7917016 h 7917016"/>
                <a:gd name="connsiteX7" fmla="*/ 0 w 400320"/>
                <a:gd name="connsiteY7" fmla="*/ 66721 h 7917016"/>
                <a:gd name="connsiteX8" fmla="*/ 66721 w 400320"/>
                <a:gd name="connsiteY8" fmla="*/ 0 h 7917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0320" h="7917016">
                  <a:moveTo>
                    <a:pt x="400320" y="1319529"/>
                  </a:moveTo>
                  <a:lnTo>
                    <a:pt x="400320" y="6597487"/>
                  </a:lnTo>
                  <a:cubicBezTo>
                    <a:pt x="400320" y="7326237"/>
                    <a:pt x="398810" y="7917006"/>
                    <a:pt x="396946" y="7917006"/>
                  </a:cubicBezTo>
                  <a:lnTo>
                    <a:pt x="0" y="7917006"/>
                  </a:lnTo>
                  <a:lnTo>
                    <a:pt x="0" y="7917006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396946" y="10"/>
                  </a:lnTo>
                  <a:cubicBezTo>
                    <a:pt x="398810" y="10"/>
                    <a:pt x="400320" y="590779"/>
                    <a:pt x="400320" y="1319529"/>
                  </a:cubicBezTo>
                  <a:close/>
                </a:path>
              </a:pathLst>
            </a:custGeom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13792" tIns="29702" rIns="29702" bIns="29702" anchor="ctr"/>
            <a:lstStyle/>
            <a:p>
              <a:pPr marL="0" lvl="1" defTabSz="711200">
                <a:lnSpc>
                  <a:spcPct val="90000"/>
                </a:lnSpc>
                <a:spcAft>
                  <a:spcPct val="15000"/>
                </a:spcAft>
                <a:defRPr/>
              </a:pPr>
              <a:r>
                <a:rPr lang="en-US" sz="1600" b="1" dirty="0" smtClean="0">
                  <a:solidFill>
                    <a:srgbClr val="000000"/>
                  </a:solidFill>
                  <a:latin typeface="Calibri" pitchFamily="34" charset="0"/>
                </a:rPr>
                <a:t>&lt;31/12/18  </a:t>
              </a:r>
              <a:r>
                <a:rPr lang="en-US" sz="1600" b="1" dirty="0">
                  <a:solidFill>
                    <a:srgbClr val="000000"/>
                  </a:solidFill>
                  <a:latin typeface="Calibri" pitchFamily="34" charset="0"/>
                </a:rPr>
                <a:t>– HRA identification, Validation, inclusion by Health workers</a:t>
              </a:r>
              <a:endParaRPr lang="en-GB" sz="1600" b="1" dirty="0">
                <a:solidFill>
                  <a:srgbClr val="000000"/>
                </a:solidFill>
                <a:latin typeface="Calibri" pitchFamily="34" charset="0"/>
              </a:endParaRPr>
            </a:p>
          </p:txBody>
        </p:sp>
        <p:sp>
          <p:nvSpPr>
            <p:cNvPr id="10" name="Freeform 9"/>
            <p:cNvSpPr/>
            <p:nvPr/>
          </p:nvSpPr>
          <p:spPr bwMode="auto">
            <a:xfrm>
              <a:off x="361950" y="1570355"/>
              <a:ext cx="688975" cy="577239"/>
            </a:xfrm>
            <a:custGeom>
              <a:avLst/>
              <a:gdLst>
                <a:gd name="connsiteX0" fmla="*/ 0 w 655551"/>
                <a:gd name="connsiteY0" fmla="*/ 0 h 688063"/>
                <a:gd name="connsiteX1" fmla="*/ 327776 w 655551"/>
                <a:gd name="connsiteY1" fmla="*/ 0 h 688063"/>
                <a:gd name="connsiteX2" fmla="*/ 655551 w 655551"/>
                <a:gd name="connsiteY2" fmla="*/ 344032 h 688063"/>
                <a:gd name="connsiteX3" fmla="*/ 327776 w 655551"/>
                <a:gd name="connsiteY3" fmla="*/ 688063 h 688063"/>
                <a:gd name="connsiteX4" fmla="*/ 0 w 655551"/>
                <a:gd name="connsiteY4" fmla="*/ 688063 h 688063"/>
                <a:gd name="connsiteX5" fmla="*/ 327776 w 655551"/>
                <a:gd name="connsiteY5" fmla="*/ 344032 h 688063"/>
                <a:gd name="connsiteX6" fmla="*/ 0 w 655551"/>
                <a:gd name="connsiteY6" fmla="*/ 0 h 688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55551" h="688063">
                  <a:moveTo>
                    <a:pt x="655551" y="0"/>
                  </a:moveTo>
                  <a:lnTo>
                    <a:pt x="655551" y="344032"/>
                  </a:lnTo>
                  <a:lnTo>
                    <a:pt x="327775" y="688063"/>
                  </a:lnTo>
                  <a:lnTo>
                    <a:pt x="0" y="344032"/>
                  </a:lnTo>
                  <a:lnTo>
                    <a:pt x="0" y="0"/>
                  </a:lnTo>
                  <a:lnTo>
                    <a:pt x="327775" y="344032"/>
                  </a:lnTo>
                  <a:lnTo>
                    <a:pt x="655551" y="0"/>
                  </a:lnTo>
                  <a:close/>
                </a:path>
              </a:pathLst>
            </a:custGeom>
            <a:solidFill>
              <a:srgbClr val="ABDBFF"/>
            </a:solidFill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0160" tIns="10160" rIns="10160" bIns="10160" spcCol="1270" anchor="ctr"/>
            <a:lstStyle/>
            <a:p>
              <a:pPr algn="ctr" defTabSz="7112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GB" sz="16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Freeform 10"/>
            <p:cNvSpPr/>
            <p:nvPr/>
          </p:nvSpPr>
          <p:spPr bwMode="auto">
            <a:xfrm>
              <a:off x="1115616" y="2068674"/>
              <a:ext cx="7916862" cy="352214"/>
            </a:xfrm>
            <a:custGeom>
              <a:avLst/>
              <a:gdLst>
                <a:gd name="connsiteX0" fmla="*/ 66721 w 400320"/>
                <a:gd name="connsiteY0" fmla="*/ 0 h 7917016"/>
                <a:gd name="connsiteX1" fmla="*/ 333599 w 400320"/>
                <a:gd name="connsiteY1" fmla="*/ 0 h 7917016"/>
                <a:gd name="connsiteX2" fmla="*/ 400320 w 400320"/>
                <a:gd name="connsiteY2" fmla="*/ 66721 h 7917016"/>
                <a:gd name="connsiteX3" fmla="*/ 400320 w 400320"/>
                <a:gd name="connsiteY3" fmla="*/ 7917016 h 7917016"/>
                <a:gd name="connsiteX4" fmla="*/ 400320 w 400320"/>
                <a:gd name="connsiteY4" fmla="*/ 7917016 h 7917016"/>
                <a:gd name="connsiteX5" fmla="*/ 0 w 400320"/>
                <a:gd name="connsiteY5" fmla="*/ 7917016 h 7917016"/>
                <a:gd name="connsiteX6" fmla="*/ 0 w 400320"/>
                <a:gd name="connsiteY6" fmla="*/ 7917016 h 7917016"/>
                <a:gd name="connsiteX7" fmla="*/ 0 w 400320"/>
                <a:gd name="connsiteY7" fmla="*/ 66721 h 7917016"/>
                <a:gd name="connsiteX8" fmla="*/ 66721 w 400320"/>
                <a:gd name="connsiteY8" fmla="*/ 0 h 7917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0320" h="7917016">
                  <a:moveTo>
                    <a:pt x="400320" y="1319529"/>
                  </a:moveTo>
                  <a:lnTo>
                    <a:pt x="400320" y="6597487"/>
                  </a:lnTo>
                  <a:cubicBezTo>
                    <a:pt x="400320" y="7326237"/>
                    <a:pt x="398810" y="7917006"/>
                    <a:pt x="396946" y="7917006"/>
                  </a:cubicBezTo>
                  <a:lnTo>
                    <a:pt x="0" y="7917006"/>
                  </a:lnTo>
                  <a:lnTo>
                    <a:pt x="0" y="7917006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396946" y="10"/>
                  </a:lnTo>
                  <a:cubicBezTo>
                    <a:pt x="398810" y="10"/>
                    <a:pt x="400320" y="590779"/>
                    <a:pt x="400320" y="1319529"/>
                  </a:cubicBezTo>
                  <a:close/>
                </a:path>
              </a:pathLst>
            </a:custGeom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13792" tIns="29702" rIns="29702" bIns="29702" anchor="ctr"/>
            <a:lstStyle/>
            <a:p>
              <a:pPr marL="171450" lvl="1" indent="-171450" defTabSz="711200">
                <a:lnSpc>
                  <a:spcPct val="90000"/>
                </a:lnSpc>
                <a:spcAft>
                  <a:spcPct val="15000"/>
                </a:spcAft>
                <a:buFontTx/>
                <a:buChar char="•"/>
                <a:defRPr/>
              </a:pPr>
              <a:r>
                <a:rPr lang="en-US" sz="1600" b="1" dirty="0" smtClean="0">
                  <a:solidFill>
                    <a:srgbClr val="000000"/>
                  </a:solidFill>
                  <a:latin typeface="Calibri" pitchFamily="34" charset="0"/>
                </a:rPr>
                <a:t>&lt;04/01/19– </a:t>
              </a:r>
              <a:r>
                <a:rPr lang="en-US" sz="1600" b="1" dirty="0">
                  <a:solidFill>
                    <a:srgbClr val="000000"/>
                  </a:solidFill>
                  <a:latin typeface="Calibri" pitchFamily="34" charset="0"/>
                </a:rPr>
                <a:t>District level review of all PHC/ UHC Micro-plans </a:t>
              </a:r>
              <a:endParaRPr lang="en-GB" sz="1600" b="1" dirty="0">
                <a:solidFill>
                  <a:srgbClr val="000000"/>
                </a:solidFill>
                <a:latin typeface="Calibri" pitchFamily="34" charset="0"/>
              </a:endParaRPr>
            </a:p>
          </p:txBody>
        </p:sp>
        <p:sp>
          <p:nvSpPr>
            <p:cNvPr id="12" name="Freeform 11"/>
            <p:cNvSpPr/>
            <p:nvPr/>
          </p:nvSpPr>
          <p:spPr bwMode="auto">
            <a:xfrm>
              <a:off x="361950" y="2109856"/>
              <a:ext cx="688975" cy="531116"/>
            </a:xfrm>
            <a:custGeom>
              <a:avLst/>
              <a:gdLst>
                <a:gd name="connsiteX0" fmla="*/ 0 w 603864"/>
                <a:gd name="connsiteY0" fmla="*/ 0 h 688063"/>
                <a:gd name="connsiteX1" fmla="*/ 301932 w 603864"/>
                <a:gd name="connsiteY1" fmla="*/ 0 h 688063"/>
                <a:gd name="connsiteX2" fmla="*/ 603864 w 603864"/>
                <a:gd name="connsiteY2" fmla="*/ 344032 h 688063"/>
                <a:gd name="connsiteX3" fmla="*/ 301932 w 603864"/>
                <a:gd name="connsiteY3" fmla="*/ 688063 h 688063"/>
                <a:gd name="connsiteX4" fmla="*/ 0 w 603864"/>
                <a:gd name="connsiteY4" fmla="*/ 688063 h 688063"/>
                <a:gd name="connsiteX5" fmla="*/ 301932 w 603864"/>
                <a:gd name="connsiteY5" fmla="*/ 344032 h 688063"/>
                <a:gd name="connsiteX6" fmla="*/ 0 w 603864"/>
                <a:gd name="connsiteY6" fmla="*/ 0 h 688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3864" h="688063">
                  <a:moveTo>
                    <a:pt x="603864" y="1"/>
                  </a:moveTo>
                  <a:lnTo>
                    <a:pt x="603864" y="344032"/>
                  </a:lnTo>
                  <a:lnTo>
                    <a:pt x="301932" y="688062"/>
                  </a:lnTo>
                  <a:lnTo>
                    <a:pt x="0" y="344032"/>
                  </a:lnTo>
                  <a:lnTo>
                    <a:pt x="0" y="1"/>
                  </a:lnTo>
                  <a:lnTo>
                    <a:pt x="301932" y="344032"/>
                  </a:lnTo>
                  <a:lnTo>
                    <a:pt x="603864" y="1"/>
                  </a:lnTo>
                  <a:close/>
                </a:path>
              </a:pathLst>
            </a:custGeom>
            <a:solidFill>
              <a:srgbClr val="ABDBFF"/>
            </a:solidFill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0161" tIns="10160" rIns="10160" bIns="10161" spcCol="1270" anchor="ctr"/>
            <a:lstStyle/>
            <a:p>
              <a:pPr algn="ctr" defTabSz="7112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GB" sz="16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Freeform 12"/>
            <p:cNvSpPr/>
            <p:nvPr/>
          </p:nvSpPr>
          <p:spPr bwMode="auto">
            <a:xfrm>
              <a:off x="1119188" y="2572730"/>
              <a:ext cx="7916862" cy="352214"/>
            </a:xfrm>
            <a:custGeom>
              <a:avLst/>
              <a:gdLst>
                <a:gd name="connsiteX0" fmla="*/ 66721 w 400320"/>
                <a:gd name="connsiteY0" fmla="*/ 0 h 7917016"/>
                <a:gd name="connsiteX1" fmla="*/ 333599 w 400320"/>
                <a:gd name="connsiteY1" fmla="*/ 0 h 7917016"/>
                <a:gd name="connsiteX2" fmla="*/ 400320 w 400320"/>
                <a:gd name="connsiteY2" fmla="*/ 66721 h 7917016"/>
                <a:gd name="connsiteX3" fmla="*/ 400320 w 400320"/>
                <a:gd name="connsiteY3" fmla="*/ 7917016 h 7917016"/>
                <a:gd name="connsiteX4" fmla="*/ 400320 w 400320"/>
                <a:gd name="connsiteY4" fmla="*/ 7917016 h 7917016"/>
                <a:gd name="connsiteX5" fmla="*/ 0 w 400320"/>
                <a:gd name="connsiteY5" fmla="*/ 7917016 h 7917016"/>
                <a:gd name="connsiteX6" fmla="*/ 0 w 400320"/>
                <a:gd name="connsiteY6" fmla="*/ 7917016 h 7917016"/>
                <a:gd name="connsiteX7" fmla="*/ 0 w 400320"/>
                <a:gd name="connsiteY7" fmla="*/ 66721 h 7917016"/>
                <a:gd name="connsiteX8" fmla="*/ 66721 w 400320"/>
                <a:gd name="connsiteY8" fmla="*/ 0 h 7917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0320" h="7917016">
                  <a:moveTo>
                    <a:pt x="400320" y="1319529"/>
                  </a:moveTo>
                  <a:lnTo>
                    <a:pt x="400320" y="6597487"/>
                  </a:lnTo>
                  <a:cubicBezTo>
                    <a:pt x="400320" y="7326237"/>
                    <a:pt x="398810" y="7917006"/>
                    <a:pt x="396946" y="7917006"/>
                  </a:cubicBezTo>
                  <a:lnTo>
                    <a:pt x="0" y="7917006"/>
                  </a:lnTo>
                  <a:lnTo>
                    <a:pt x="0" y="7917006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396946" y="10"/>
                  </a:lnTo>
                  <a:cubicBezTo>
                    <a:pt x="398810" y="10"/>
                    <a:pt x="400320" y="590779"/>
                    <a:pt x="400320" y="1319529"/>
                  </a:cubicBezTo>
                  <a:close/>
                </a:path>
              </a:pathLst>
            </a:custGeom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13792" tIns="29702" rIns="29702" bIns="29702" spcCol="1270" anchor="ctr"/>
            <a:lstStyle/>
            <a:p>
              <a:pPr marL="171450" lvl="1" indent="-171450" defTabSz="71120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r>
                <a:rPr lang="en-US" altLang="en-US" sz="1600" b="1" dirty="0" smtClean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&lt;11/01/19 </a:t>
              </a:r>
              <a:r>
                <a:rPr lang="en-US" altLang="en-US" sz="1600" b="1" dirty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- Micro-plans Submission to State</a:t>
              </a:r>
              <a:r>
                <a:rPr lang="en-US" sz="1600" b="1" dirty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	</a:t>
              </a:r>
              <a:endParaRPr lang="en-GB" sz="1600" b="1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Freeform 13"/>
            <p:cNvSpPr/>
            <p:nvPr/>
          </p:nvSpPr>
          <p:spPr bwMode="auto">
            <a:xfrm>
              <a:off x="361950" y="2603235"/>
              <a:ext cx="688975" cy="531116"/>
            </a:xfrm>
            <a:custGeom>
              <a:avLst/>
              <a:gdLst>
                <a:gd name="connsiteX0" fmla="*/ 0 w 603864"/>
                <a:gd name="connsiteY0" fmla="*/ 0 h 688063"/>
                <a:gd name="connsiteX1" fmla="*/ 301932 w 603864"/>
                <a:gd name="connsiteY1" fmla="*/ 0 h 688063"/>
                <a:gd name="connsiteX2" fmla="*/ 603864 w 603864"/>
                <a:gd name="connsiteY2" fmla="*/ 344032 h 688063"/>
                <a:gd name="connsiteX3" fmla="*/ 301932 w 603864"/>
                <a:gd name="connsiteY3" fmla="*/ 688063 h 688063"/>
                <a:gd name="connsiteX4" fmla="*/ 0 w 603864"/>
                <a:gd name="connsiteY4" fmla="*/ 688063 h 688063"/>
                <a:gd name="connsiteX5" fmla="*/ 301932 w 603864"/>
                <a:gd name="connsiteY5" fmla="*/ 344032 h 688063"/>
                <a:gd name="connsiteX6" fmla="*/ 0 w 603864"/>
                <a:gd name="connsiteY6" fmla="*/ 0 h 688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3864" h="688063">
                  <a:moveTo>
                    <a:pt x="603864" y="1"/>
                  </a:moveTo>
                  <a:lnTo>
                    <a:pt x="603864" y="344032"/>
                  </a:lnTo>
                  <a:lnTo>
                    <a:pt x="301932" y="688062"/>
                  </a:lnTo>
                  <a:lnTo>
                    <a:pt x="0" y="344032"/>
                  </a:lnTo>
                  <a:lnTo>
                    <a:pt x="0" y="1"/>
                  </a:lnTo>
                  <a:lnTo>
                    <a:pt x="301932" y="344032"/>
                  </a:lnTo>
                  <a:lnTo>
                    <a:pt x="603864" y="1"/>
                  </a:lnTo>
                  <a:close/>
                </a:path>
              </a:pathLst>
            </a:custGeom>
            <a:solidFill>
              <a:srgbClr val="ABDBFF"/>
            </a:solidFill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0161" tIns="10160" rIns="10160" bIns="10161" spcCol="1270" anchor="ctr"/>
            <a:lstStyle/>
            <a:p>
              <a:pPr algn="ctr" defTabSz="7112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GB" sz="16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Freeform 14"/>
            <p:cNvSpPr/>
            <p:nvPr/>
          </p:nvSpPr>
          <p:spPr bwMode="auto">
            <a:xfrm>
              <a:off x="1119188" y="1510016"/>
              <a:ext cx="7916862" cy="352214"/>
            </a:xfrm>
            <a:custGeom>
              <a:avLst/>
              <a:gdLst>
                <a:gd name="connsiteX0" fmla="*/ 66721 w 400320"/>
                <a:gd name="connsiteY0" fmla="*/ 0 h 7917016"/>
                <a:gd name="connsiteX1" fmla="*/ 333599 w 400320"/>
                <a:gd name="connsiteY1" fmla="*/ 0 h 7917016"/>
                <a:gd name="connsiteX2" fmla="*/ 400320 w 400320"/>
                <a:gd name="connsiteY2" fmla="*/ 66721 h 7917016"/>
                <a:gd name="connsiteX3" fmla="*/ 400320 w 400320"/>
                <a:gd name="connsiteY3" fmla="*/ 7917016 h 7917016"/>
                <a:gd name="connsiteX4" fmla="*/ 400320 w 400320"/>
                <a:gd name="connsiteY4" fmla="*/ 7917016 h 7917016"/>
                <a:gd name="connsiteX5" fmla="*/ 0 w 400320"/>
                <a:gd name="connsiteY5" fmla="*/ 7917016 h 7917016"/>
                <a:gd name="connsiteX6" fmla="*/ 0 w 400320"/>
                <a:gd name="connsiteY6" fmla="*/ 7917016 h 7917016"/>
                <a:gd name="connsiteX7" fmla="*/ 0 w 400320"/>
                <a:gd name="connsiteY7" fmla="*/ 66721 h 7917016"/>
                <a:gd name="connsiteX8" fmla="*/ 66721 w 400320"/>
                <a:gd name="connsiteY8" fmla="*/ 0 h 7917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0320" h="7917016">
                  <a:moveTo>
                    <a:pt x="400320" y="1319529"/>
                  </a:moveTo>
                  <a:lnTo>
                    <a:pt x="400320" y="6597487"/>
                  </a:lnTo>
                  <a:cubicBezTo>
                    <a:pt x="400320" y="7326237"/>
                    <a:pt x="398810" y="7917006"/>
                    <a:pt x="396946" y="7917006"/>
                  </a:cubicBezTo>
                  <a:lnTo>
                    <a:pt x="0" y="7917006"/>
                  </a:lnTo>
                  <a:lnTo>
                    <a:pt x="0" y="7917006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396946" y="10"/>
                  </a:lnTo>
                  <a:cubicBezTo>
                    <a:pt x="398810" y="10"/>
                    <a:pt x="400320" y="590779"/>
                    <a:pt x="400320" y="1319529"/>
                  </a:cubicBezTo>
                  <a:close/>
                </a:path>
              </a:pathLst>
            </a:custGeom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13792" tIns="29702" rIns="29702" bIns="29702" spcCol="1270" anchor="ctr"/>
            <a:lstStyle/>
            <a:p>
              <a:pPr marL="171450" lvl="1" indent="-171450" defTabSz="71120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r>
                <a:rPr lang="en-US" sz="1600" b="1" dirty="0" smtClean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&lt;31/12/18 </a:t>
              </a:r>
              <a:r>
                <a:rPr lang="en-US" sz="1600" b="1" dirty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– DTF1 &amp; TTF1 meetings</a:t>
              </a:r>
              <a:endParaRPr lang="en-GB" sz="1600" b="1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Freeform 15"/>
            <p:cNvSpPr/>
            <p:nvPr/>
          </p:nvSpPr>
          <p:spPr bwMode="auto">
            <a:xfrm>
              <a:off x="361950" y="3096614"/>
              <a:ext cx="688975" cy="531116"/>
            </a:xfrm>
            <a:custGeom>
              <a:avLst/>
              <a:gdLst>
                <a:gd name="connsiteX0" fmla="*/ 0 w 603864"/>
                <a:gd name="connsiteY0" fmla="*/ 0 h 688063"/>
                <a:gd name="connsiteX1" fmla="*/ 301932 w 603864"/>
                <a:gd name="connsiteY1" fmla="*/ 0 h 688063"/>
                <a:gd name="connsiteX2" fmla="*/ 603864 w 603864"/>
                <a:gd name="connsiteY2" fmla="*/ 344032 h 688063"/>
                <a:gd name="connsiteX3" fmla="*/ 301932 w 603864"/>
                <a:gd name="connsiteY3" fmla="*/ 688063 h 688063"/>
                <a:gd name="connsiteX4" fmla="*/ 0 w 603864"/>
                <a:gd name="connsiteY4" fmla="*/ 688063 h 688063"/>
                <a:gd name="connsiteX5" fmla="*/ 301932 w 603864"/>
                <a:gd name="connsiteY5" fmla="*/ 344032 h 688063"/>
                <a:gd name="connsiteX6" fmla="*/ 0 w 603864"/>
                <a:gd name="connsiteY6" fmla="*/ 0 h 688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3864" h="688063">
                  <a:moveTo>
                    <a:pt x="603864" y="1"/>
                  </a:moveTo>
                  <a:lnTo>
                    <a:pt x="603864" y="344032"/>
                  </a:lnTo>
                  <a:lnTo>
                    <a:pt x="301932" y="688062"/>
                  </a:lnTo>
                  <a:lnTo>
                    <a:pt x="0" y="344032"/>
                  </a:lnTo>
                  <a:lnTo>
                    <a:pt x="0" y="1"/>
                  </a:lnTo>
                  <a:lnTo>
                    <a:pt x="301932" y="344032"/>
                  </a:lnTo>
                  <a:lnTo>
                    <a:pt x="603864" y="1"/>
                  </a:lnTo>
                  <a:close/>
                </a:path>
              </a:pathLst>
            </a:custGeom>
            <a:solidFill>
              <a:srgbClr val="ABDBFF"/>
            </a:solidFill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0161" tIns="10160" rIns="10160" bIns="10161" spcCol="1270" anchor="ctr"/>
            <a:lstStyle/>
            <a:p>
              <a:pPr algn="ctr" defTabSz="7112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GB" sz="16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Freeform 16"/>
            <p:cNvSpPr/>
            <p:nvPr/>
          </p:nvSpPr>
          <p:spPr bwMode="auto">
            <a:xfrm>
              <a:off x="1119188" y="3023935"/>
              <a:ext cx="7916862" cy="352214"/>
            </a:xfrm>
            <a:custGeom>
              <a:avLst/>
              <a:gdLst>
                <a:gd name="connsiteX0" fmla="*/ 66721 w 400320"/>
                <a:gd name="connsiteY0" fmla="*/ 0 h 7917016"/>
                <a:gd name="connsiteX1" fmla="*/ 333599 w 400320"/>
                <a:gd name="connsiteY1" fmla="*/ 0 h 7917016"/>
                <a:gd name="connsiteX2" fmla="*/ 400320 w 400320"/>
                <a:gd name="connsiteY2" fmla="*/ 66721 h 7917016"/>
                <a:gd name="connsiteX3" fmla="*/ 400320 w 400320"/>
                <a:gd name="connsiteY3" fmla="*/ 7917016 h 7917016"/>
                <a:gd name="connsiteX4" fmla="*/ 400320 w 400320"/>
                <a:gd name="connsiteY4" fmla="*/ 7917016 h 7917016"/>
                <a:gd name="connsiteX5" fmla="*/ 0 w 400320"/>
                <a:gd name="connsiteY5" fmla="*/ 7917016 h 7917016"/>
                <a:gd name="connsiteX6" fmla="*/ 0 w 400320"/>
                <a:gd name="connsiteY6" fmla="*/ 7917016 h 7917016"/>
                <a:gd name="connsiteX7" fmla="*/ 0 w 400320"/>
                <a:gd name="connsiteY7" fmla="*/ 66721 h 7917016"/>
                <a:gd name="connsiteX8" fmla="*/ 66721 w 400320"/>
                <a:gd name="connsiteY8" fmla="*/ 0 h 7917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0320" h="7917016">
                  <a:moveTo>
                    <a:pt x="400320" y="1319529"/>
                  </a:moveTo>
                  <a:lnTo>
                    <a:pt x="400320" y="6597487"/>
                  </a:lnTo>
                  <a:cubicBezTo>
                    <a:pt x="400320" y="7326237"/>
                    <a:pt x="398810" y="7917006"/>
                    <a:pt x="396946" y="7917006"/>
                  </a:cubicBezTo>
                  <a:lnTo>
                    <a:pt x="0" y="7917006"/>
                  </a:lnTo>
                  <a:lnTo>
                    <a:pt x="0" y="7917006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396946" y="10"/>
                  </a:lnTo>
                  <a:cubicBezTo>
                    <a:pt x="398810" y="10"/>
                    <a:pt x="400320" y="590779"/>
                    <a:pt x="400320" y="1319529"/>
                  </a:cubicBezTo>
                  <a:close/>
                </a:path>
              </a:pathLst>
            </a:custGeom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13792" tIns="29702" rIns="29702" bIns="29702" spcCol="1270" anchor="ctr"/>
            <a:lstStyle/>
            <a:p>
              <a:pPr marL="171450" lvl="1" indent="-171450" defTabSz="711200">
                <a:lnSpc>
                  <a:spcPct val="90000"/>
                </a:lnSpc>
                <a:spcAft>
                  <a:spcPct val="15000"/>
                </a:spcAft>
                <a:buFontTx/>
                <a:buChar char="•"/>
                <a:defRPr/>
              </a:pPr>
              <a:r>
                <a:rPr lang="en-US" sz="1600" b="1" dirty="0">
                  <a:solidFill>
                    <a:srgbClr val="000000"/>
                  </a:solidFill>
                  <a:latin typeface="Calibri" pitchFamily="34" charset="0"/>
                </a:rPr>
                <a:t>&lt;</a:t>
              </a:r>
              <a:r>
                <a:rPr lang="en-US" sz="1600" b="1" dirty="0" smtClean="0">
                  <a:solidFill>
                    <a:srgbClr val="000000"/>
                  </a:solidFill>
                  <a:latin typeface="Calibri" pitchFamily="34" charset="0"/>
                </a:rPr>
                <a:t>26/01/19 </a:t>
              </a:r>
              <a:r>
                <a:rPr lang="en-US" sz="1600" b="1" dirty="0">
                  <a:solidFill>
                    <a:srgbClr val="000000"/>
                  </a:solidFill>
                  <a:latin typeface="Calibri" pitchFamily="34" charset="0"/>
                </a:rPr>
                <a:t>– </a:t>
              </a:r>
              <a:r>
                <a:rPr lang="en-US" altLang="en-US" sz="1600" b="1" dirty="0">
                  <a:solidFill>
                    <a:srgbClr val="000000"/>
                  </a:solidFill>
                  <a:latin typeface="Calibri" pitchFamily="34" charset="0"/>
                </a:rPr>
                <a:t>DTF2 &amp; TTF2 meeting</a:t>
              </a:r>
              <a:r>
                <a:rPr lang="en-US" sz="1600" b="1" dirty="0">
                  <a:solidFill>
                    <a:srgbClr val="000000"/>
                  </a:solidFill>
                  <a:latin typeface="Calibri" pitchFamily="34" charset="0"/>
                </a:rPr>
                <a:t> </a:t>
              </a:r>
              <a:endParaRPr lang="en-GB" sz="1600" b="1" dirty="0">
                <a:solidFill>
                  <a:srgbClr val="000000"/>
                </a:solidFill>
                <a:latin typeface="Calibri" pitchFamily="34" charset="0"/>
              </a:endParaRPr>
            </a:p>
          </p:txBody>
        </p:sp>
        <p:sp>
          <p:nvSpPr>
            <p:cNvPr id="18" name="Freeform 17"/>
            <p:cNvSpPr/>
            <p:nvPr/>
          </p:nvSpPr>
          <p:spPr bwMode="auto">
            <a:xfrm>
              <a:off x="361950" y="3588595"/>
              <a:ext cx="688975" cy="532514"/>
            </a:xfrm>
            <a:custGeom>
              <a:avLst/>
              <a:gdLst>
                <a:gd name="connsiteX0" fmla="*/ 0 w 603864"/>
                <a:gd name="connsiteY0" fmla="*/ 0 h 688063"/>
                <a:gd name="connsiteX1" fmla="*/ 301932 w 603864"/>
                <a:gd name="connsiteY1" fmla="*/ 0 h 688063"/>
                <a:gd name="connsiteX2" fmla="*/ 603864 w 603864"/>
                <a:gd name="connsiteY2" fmla="*/ 344032 h 688063"/>
                <a:gd name="connsiteX3" fmla="*/ 301932 w 603864"/>
                <a:gd name="connsiteY3" fmla="*/ 688063 h 688063"/>
                <a:gd name="connsiteX4" fmla="*/ 0 w 603864"/>
                <a:gd name="connsiteY4" fmla="*/ 688063 h 688063"/>
                <a:gd name="connsiteX5" fmla="*/ 301932 w 603864"/>
                <a:gd name="connsiteY5" fmla="*/ 344032 h 688063"/>
                <a:gd name="connsiteX6" fmla="*/ 0 w 603864"/>
                <a:gd name="connsiteY6" fmla="*/ 0 h 688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3864" h="688063">
                  <a:moveTo>
                    <a:pt x="603864" y="1"/>
                  </a:moveTo>
                  <a:lnTo>
                    <a:pt x="603864" y="344032"/>
                  </a:lnTo>
                  <a:lnTo>
                    <a:pt x="301932" y="688062"/>
                  </a:lnTo>
                  <a:lnTo>
                    <a:pt x="0" y="344032"/>
                  </a:lnTo>
                  <a:lnTo>
                    <a:pt x="0" y="1"/>
                  </a:lnTo>
                  <a:lnTo>
                    <a:pt x="301932" y="344032"/>
                  </a:lnTo>
                  <a:lnTo>
                    <a:pt x="603864" y="1"/>
                  </a:lnTo>
                  <a:close/>
                </a:path>
              </a:pathLst>
            </a:custGeom>
            <a:solidFill>
              <a:srgbClr val="ABDBFF"/>
            </a:solidFill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0161" tIns="10160" rIns="10160" bIns="10161" spcCol="1270" anchor="ctr"/>
            <a:lstStyle/>
            <a:p>
              <a:pPr algn="ctr" defTabSz="7112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GB" sz="16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Freeform 18"/>
            <p:cNvSpPr/>
            <p:nvPr/>
          </p:nvSpPr>
          <p:spPr bwMode="auto">
            <a:xfrm>
              <a:off x="1119188" y="3517314"/>
              <a:ext cx="7916862" cy="352214"/>
            </a:xfrm>
            <a:custGeom>
              <a:avLst/>
              <a:gdLst>
                <a:gd name="connsiteX0" fmla="*/ 66721 w 400320"/>
                <a:gd name="connsiteY0" fmla="*/ 0 h 7917016"/>
                <a:gd name="connsiteX1" fmla="*/ 333599 w 400320"/>
                <a:gd name="connsiteY1" fmla="*/ 0 h 7917016"/>
                <a:gd name="connsiteX2" fmla="*/ 400320 w 400320"/>
                <a:gd name="connsiteY2" fmla="*/ 66721 h 7917016"/>
                <a:gd name="connsiteX3" fmla="*/ 400320 w 400320"/>
                <a:gd name="connsiteY3" fmla="*/ 7917016 h 7917016"/>
                <a:gd name="connsiteX4" fmla="*/ 400320 w 400320"/>
                <a:gd name="connsiteY4" fmla="*/ 7917016 h 7917016"/>
                <a:gd name="connsiteX5" fmla="*/ 0 w 400320"/>
                <a:gd name="connsiteY5" fmla="*/ 7917016 h 7917016"/>
                <a:gd name="connsiteX6" fmla="*/ 0 w 400320"/>
                <a:gd name="connsiteY6" fmla="*/ 7917016 h 7917016"/>
                <a:gd name="connsiteX7" fmla="*/ 0 w 400320"/>
                <a:gd name="connsiteY7" fmla="*/ 66721 h 7917016"/>
                <a:gd name="connsiteX8" fmla="*/ 66721 w 400320"/>
                <a:gd name="connsiteY8" fmla="*/ 0 h 7917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0320" h="7917016">
                  <a:moveTo>
                    <a:pt x="400320" y="1319529"/>
                  </a:moveTo>
                  <a:lnTo>
                    <a:pt x="400320" y="6597487"/>
                  </a:lnTo>
                  <a:cubicBezTo>
                    <a:pt x="400320" y="7326237"/>
                    <a:pt x="398810" y="7917006"/>
                    <a:pt x="396946" y="7917006"/>
                  </a:cubicBezTo>
                  <a:lnTo>
                    <a:pt x="0" y="7917006"/>
                  </a:lnTo>
                  <a:lnTo>
                    <a:pt x="0" y="7917006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396946" y="10"/>
                  </a:lnTo>
                  <a:cubicBezTo>
                    <a:pt x="398810" y="10"/>
                    <a:pt x="400320" y="590779"/>
                    <a:pt x="400320" y="1319529"/>
                  </a:cubicBezTo>
                  <a:close/>
                </a:path>
              </a:pathLst>
            </a:custGeom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13792" tIns="29702" rIns="29702" bIns="29702" anchor="ctr"/>
            <a:lstStyle/>
            <a:p>
              <a:pPr marL="171450" lvl="1" indent="-171450" defTabSz="711200">
                <a:lnSpc>
                  <a:spcPct val="90000"/>
                </a:lnSpc>
                <a:spcAft>
                  <a:spcPct val="15000"/>
                </a:spcAft>
                <a:buFontTx/>
                <a:buChar char="•"/>
                <a:defRPr/>
              </a:pPr>
              <a:r>
                <a:rPr lang="en-US" altLang="en-US" sz="1600" b="1" dirty="0" smtClean="0">
                  <a:solidFill>
                    <a:srgbClr val="000000"/>
                  </a:solidFill>
                  <a:latin typeface="Calibri" pitchFamily="34" charset="0"/>
                </a:rPr>
                <a:t>&lt;26/01/19 </a:t>
              </a:r>
              <a:r>
                <a:rPr lang="en-US" altLang="en-US" sz="1600" b="1" dirty="0">
                  <a:solidFill>
                    <a:srgbClr val="000000"/>
                  </a:solidFill>
                  <a:latin typeface="Calibri" pitchFamily="34" charset="0"/>
                </a:rPr>
                <a:t>–</a:t>
              </a:r>
              <a:r>
                <a:rPr lang="en-US" sz="1600" b="1" dirty="0">
                  <a:solidFill>
                    <a:srgbClr val="000000"/>
                  </a:solidFill>
                  <a:latin typeface="Calibri" pitchFamily="34" charset="0"/>
                </a:rPr>
                <a:t>Supervisors training</a:t>
              </a:r>
              <a:endParaRPr lang="en-GB" sz="1600" b="1" dirty="0">
                <a:solidFill>
                  <a:srgbClr val="000000"/>
                </a:solidFill>
                <a:latin typeface="Calibri" pitchFamily="34" charset="0"/>
              </a:endParaRPr>
            </a:p>
          </p:txBody>
        </p:sp>
        <p:sp>
          <p:nvSpPr>
            <p:cNvPr id="20" name="Freeform 19"/>
            <p:cNvSpPr/>
            <p:nvPr/>
          </p:nvSpPr>
          <p:spPr bwMode="auto">
            <a:xfrm>
              <a:off x="361950" y="4081974"/>
              <a:ext cx="688975" cy="532514"/>
            </a:xfrm>
            <a:custGeom>
              <a:avLst/>
              <a:gdLst>
                <a:gd name="connsiteX0" fmla="*/ 0 w 603864"/>
                <a:gd name="connsiteY0" fmla="*/ 0 h 688063"/>
                <a:gd name="connsiteX1" fmla="*/ 301932 w 603864"/>
                <a:gd name="connsiteY1" fmla="*/ 0 h 688063"/>
                <a:gd name="connsiteX2" fmla="*/ 603864 w 603864"/>
                <a:gd name="connsiteY2" fmla="*/ 344032 h 688063"/>
                <a:gd name="connsiteX3" fmla="*/ 301932 w 603864"/>
                <a:gd name="connsiteY3" fmla="*/ 688063 h 688063"/>
                <a:gd name="connsiteX4" fmla="*/ 0 w 603864"/>
                <a:gd name="connsiteY4" fmla="*/ 688063 h 688063"/>
                <a:gd name="connsiteX5" fmla="*/ 301932 w 603864"/>
                <a:gd name="connsiteY5" fmla="*/ 344032 h 688063"/>
                <a:gd name="connsiteX6" fmla="*/ 0 w 603864"/>
                <a:gd name="connsiteY6" fmla="*/ 0 h 688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3864" h="688063">
                  <a:moveTo>
                    <a:pt x="603864" y="1"/>
                  </a:moveTo>
                  <a:lnTo>
                    <a:pt x="603864" y="344032"/>
                  </a:lnTo>
                  <a:lnTo>
                    <a:pt x="301932" y="688062"/>
                  </a:lnTo>
                  <a:lnTo>
                    <a:pt x="0" y="344032"/>
                  </a:lnTo>
                  <a:lnTo>
                    <a:pt x="0" y="1"/>
                  </a:lnTo>
                  <a:lnTo>
                    <a:pt x="301932" y="344032"/>
                  </a:lnTo>
                  <a:lnTo>
                    <a:pt x="603864" y="1"/>
                  </a:lnTo>
                  <a:close/>
                </a:path>
              </a:pathLst>
            </a:custGeom>
            <a:solidFill>
              <a:srgbClr val="ABDBFF"/>
            </a:solidFill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0161" tIns="10160" rIns="10160" bIns="10161" spcCol="1270" anchor="ctr"/>
            <a:lstStyle/>
            <a:p>
              <a:pPr algn="ctr" defTabSz="7112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GB" sz="16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Freeform 20"/>
            <p:cNvSpPr/>
            <p:nvPr/>
          </p:nvSpPr>
          <p:spPr bwMode="auto">
            <a:xfrm>
              <a:off x="1119188" y="4010693"/>
              <a:ext cx="7916862" cy="352214"/>
            </a:xfrm>
            <a:custGeom>
              <a:avLst/>
              <a:gdLst>
                <a:gd name="connsiteX0" fmla="*/ 66721 w 400320"/>
                <a:gd name="connsiteY0" fmla="*/ 0 h 7917016"/>
                <a:gd name="connsiteX1" fmla="*/ 333599 w 400320"/>
                <a:gd name="connsiteY1" fmla="*/ 0 h 7917016"/>
                <a:gd name="connsiteX2" fmla="*/ 400320 w 400320"/>
                <a:gd name="connsiteY2" fmla="*/ 66721 h 7917016"/>
                <a:gd name="connsiteX3" fmla="*/ 400320 w 400320"/>
                <a:gd name="connsiteY3" fmla="*/ 7917016 h 7917016"/>
                <a:gd name="connsiteX4" fmla="*/ 400320 w 400320"/>
                <a:gd name="connsiteY4" fmla="*/ 7917016 h 7917016"/>
                <a:gd name="connsiteX5" fmla="*/ 0 w 400320"/>
                <a:gd name="connsiteY5" fmla="*/ 7917016 h 7917016"/>
                <a:gd name="connsiteX6" fmla="*/ 0 w 400320"/>
                <a:gd name="connsiteY6" fmla="*/ 7917016 h 7917016"/>
                <a:gd name="connsiteX7" fmla="*/ 0 w 400320"/>
                <a:gd name="connsiteY7" fmla="*/ 66721 h 7917016"/>
                <a:gd name="connsiteX8" fmla="*/ 66721 w 400320"/>
                <a:gd name="connsiteY8" fmla="*/ 0 h 7917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0320" h="7917016">
                  <a:moveTo>
                    <a:pt x="400320" y="1319529"/>
                  </a:moveTo>
                  <a:lnTo>
                    <a:pt x="400320" y="6597487"/>
                  </a:lnTo>
                  <a:cubicBezTo>
                    <a:pt x="400320" y="7326237"/>
                    <a:pt x="398810" y="7917006"/>
                    <a:pt x="396946" y="7917006"/>
                  </a:cubicBezTo>
                  <a:lnTo>
                    <a:pt x="0" y="7917006"/>
                  </a:lnTo>
                  <a:lnTo>
                    <a:pt x="0" y="7917006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396946" y="10"/>
                  </a:lnTo>
                  <a:cubicBezTo>
                    <a:pt x="398810" y="10"/>
                    <a:pt x="400320" y="590779"/>
                    <a:pt x="400320" y="1319529"/>
                  </a:cubicBezTo>
                  <a:close/>
                </a:path>
              </a:pathLst>
            </a:custGeom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13792" tIns="29702" rIns="29702" bIns="29703" anchor="ctr"/>
            <a:lstStyle/>
            <a:p>
              <a:pPr marL="171450" lvl="1" indent="-171450" defTabSz="71120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r>
                <a:rPr lang="en-US" altLang="en-US" sz="1600" b="1" dirty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&lt;</a:t>
              </a:r>
              <a:r>
                <a:rPr lang="en-US" altLang="en-US" sz="1600" b="1" dirty="0" smtClean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26/01/19 </a:t>
              </a:r>
              <a:r>
                <a:rPr lang="en-US" altLang="en-US" sz="1600" b="1" dirty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- Procurement &amp; distribution of vaccine logistics formats &amp; IEC materials </a:t>
              </a:r>
              <a:endParaRPr lang="en-GB" sz="1600" b="1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Freeform 21"/>
            <p:cNvSpPr/>
            <p:nvPr/>
          </p:nvSpPr>
          <p:spPr bwMode="auto">
            <a:xfrm>
              <a:off x="361950" y="4575353"/>
              <a:ext cx="688975" cy="532514"/>
            </a:xfrm>
            <a:custGeom>
              <a:avLst/>
              <a:gdLst>
                <a:gd name="connsiteX0" fmla="*/ 0 w 603864"/>
                <a:gd name="connsiteY0" fmla="*/ 0 h 688063"/>
                <a:gd name="connsiteX1" fmla="*/ 301932 w 603864"/>
                <a:gd name="connsiteY1" fmla="*/ 0 h 688063"/>
                <a:gd name="connsiteX2" fmla="*/ 603864 w 603864"/>
                <a:gd name="connsiteY2" fmla="*/ 344032 h 688063"/>
                <a:gd name="connsiteX3" fmla="*/ 301932 w 603864"/>
                <a:gd name="connsiteY3" fmla="*/ 688063 h 688063"/>
                <a:gd name="connsiteX4" fmla="*/ 0 w 603864"/>
                <a:gd name="connsiteY4" fmla="*/ 688063 h 688063"/>
                <a:gd name="connsiteX5" fmla="*/ 301932 w 603864"/>
                <a:gd name="connsiteY5" fmla="*/ 344032 h 688063"/>
                <a:gd name="connsiteX6" fmla="*/ 0 w 603864"/>
                <a:gd name="connsiteY6" fmla="*/ 0 h 688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3864" h="688063">
                  <a:moveTo>
                    <a:pt x="603864" y="1"/>
                  </a:moveTo>
                  <a:lnTo>
                    <a:pt x="603864" y="344032"/>
                  </a:lnTo>
                  <a:lnTo>
                    <a:pt x="301932" y="688062"/>
                  </a:lnTo>
                  <a:lnTo>
                    <a:pt x="0" y="344032"/>
                  </a:lnTo>
                  <a:lnTo>
                    <a:pt x="0" y="1"/>
                  </a:lnTo>
                  <a:lnTo>
                    <a:pt x="301932" y="344032"/>
                  </a:lnTo>
                  <a:lnTo>
                    <a:pt x="603864" y="1"/>
                  </a:lnTo>
                  <a:close/>
                </a:path>
              </a:pathLst>
            </a:custGeom>
            <a:solidFill>
              <a:srgbClr val="ABDBFF"/>
            </a:solidFill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0161" tIns="10160" rIns="10160" bIns="10161" spcCol="1270" anchor="ctr"/>
            <a:lstStyle/>
            <a:p>
              <a:pPr algn="ctr" defTabSz="7112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GB" sz="16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Freeform 22"/>
            <p:cNvSpPr/>
            <p:nvPr/>
          </p:nvSpPr>
          <p:spPr bwMode="auto">
            <a:xfrm>
              <a:off x="1119188" y="4504072"/>
              <a:ext cx="7916862" cy="352214"/>
            </a:xfrm>
            <a:custGeom>
              <a:avLst/>
              <a:gdLst>
                <a:gd name="connsiteX0" fmla="*/ 66721 w 400320"/>
                <a:gd name="connsiteY0" fmla="*/ 0 h 7917016"/>
                <a:gd name="connsiteX1" fmla="*/ 333599 w 400320"/>
                <a:gd name="connsiteY1" fmla="*/ 0 h 7917016"/>
                <a:gd name="connsiteX2" fmla="*/ 400320 w 400320"/>
                <a:gd name="connsiteY2" fmla="*/ 66721 h 7917016"/>
                <a:gd name="connsiteX3" fmla="*/ 400320 w 400320"/>
                <a:gd name="connsiteY3" fmla="*/ 7917016 h 7917016"/>
                <a:gd name="connsiteX4" fmla="*/ 400320 w 400320"/>
                <a:gd name="connsiteY4" fmla="*/ 7917016 h 7917016"/>
                <a:gd name="connsiteX5" fmla="*/ 0 w 400320"/>
                <a:gd name="connsiteY5" fmla="*/ 7917016 h 7917016"/>
                <a:gd name="connsiteX6" fmla="*/ 0 w 400320"/>
                <a:gd name="connsiteY6" fmla="*/ 7917016 h 7917016"/>
                <a:gd name="connsiteX7" fmla="*/ 0 w 400320"/>
                <a:gd name="connsiteY7" fmla="*/ 66721 h 7917016"/>
                <a:gd name="connsiteX8" fmla="*/ 66721 w 400320"/>
                <a:gd name="connsiteY8" fmla="*/ 0 h 7917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0320" h="7917016">
                  <a:moveTo>
                    <a:pt x="400320" y="1319529"/>
                  </a:moveTo>
                  <a:lnTo>
                    <a:pt x="400320" y="6597487"/>
                  </a:lnTo>
                  <a:cubicBezTo>
                    <a:pt x="400320" y="7326237"/>
                    <a:pt x="398810" y="7917006"/>
                    <a:pt x="396946" y="7917006"/>
                  </a:cubicBezTo>
                  <a:lnTo>
                    <a:pt x="0" y="7917006"/>
                  </a:lnTo>
                  <a:lnTo>
                    <a:pt x="0" y="7917006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396946" y="10"/>
                  </a:lnTo>
                  <a:cubicBezTo>
                    <a:pt x="398810" y="10"/>
                    <a:pt x="400320" y="590779"/>
                    <a:pt x="400320" y="1319529"/>
                  </a:cubicBezTo>
                  <a:close/>
                </a:path>
              </a:pathLst>
            </a:custGeom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13792" tIns="29702" rIns="29702" bIns="29703" anchor="ctr"/>
            <a:lstStyle/>
            <a:p>
              <a:pPr marL="171450" lvl="1" indent="-171450" defTabSz="711200">
                <a:lnSpc>
                  <a:spcPct val="90000"/>
                </a:lnSpc>
                <a:spcAft>
                  <a:spcPct val="15000"/>
                </a:spcAft>
                <a:buFontTx/>
                <a:buChar char="•"/>
                <a:defRPr/>
              </a:pPr>
              <a:r>
                <a:rPr lang="en-US" sz="1600" b="1" dirty="0">
                  <a:solidFill>
                    <a:srgbClr val="000000"/>
                  </a:solidFill>
                  <a:latin typeface="Calibri" pitchFamily="34" charset="0"/>
                </a:rPr>
                <a:t>&lt; </a:t>
              </a:r>
              <a:r>
                <a:rPr lang="en-US" sz="1600" b="1" dirty="0" smtClean="0">
                  <a:solidFill>
                    <a:srgbClr val="000000"/>
                  </a:solidFill>
                  <a:latin typeface="Calibri" pitchFamily="34" charset="0"/>
                </a:rPr>
                <a:t>01/02/19 </a:t>
              </a:r>
              <a:r>
                <a:rPr lang="en-US" sz="1600" b="1" dirty="0">
                  <a:solidFill>
                    <a:srgbClr val="000000"/>
                  </a:solidFill>
                  <a:latin typeface="Calibri" pitchFamily="34" charset="0"/>
                </a:rPr>
                <a:t>– Vaccinators training in the districts</a:t>
              </a:r>
              <a:endParaRPr lang="en-GB" sz="1600" b="1" dirty="0">
                <a:solidFill>
                  <a:srgbClr val="000000"/>
                </a:solidFill>
                <a:latin typeface="Calibri" pitchFamily="34" charset="0"/>
              </a:endParaRPr>
            </a:p>
          </p:txBody>
        </p:sp>
        <p:sp>
          <p:nvSpPr>
            <p:cNvPr id="24" name="Freeform 23"/>
            <p:cNvSpPr/>
            <p:nvPr/>
          </p:nvSpPr>
          <p:spPr bwMode="auto">
            <a:xfrm>
              <a:off x="361950" y="5068732"/>
              <a:ext cx="688975" cy="532514"/>
            </a:xfrm>
            <a:custGeom>
              <a:avLst/>
              <a:gdLst>
                <a:gd name="connsiteX0" fmla="*/ 0 w 603864"/>
                <a:gd name="connsiteY0" fmla="*/ 0 h 688063"/>
                <a:gd name="connsiteX1" fmla="*/ 301932 w 603864"/>
                <a:gd name="connsiteY1" fmla="*/ 0 h 688063"/>
                <a:gd name="connsiteX2" fmla="*/ 603864 w 603864"/>
                <a:gd name="connsiteY2" fmla="*/ 344032 h 688063"/>
                <a:gd name="connsiteX3" fmla="*/ 301932 w 603864"/>
                <a:gd name="connsiteY3" fmla="*/ 688063 h 688063"/>
                <a:gd name="connsiteX4" fmla="*/ 0 w 603864"/>
                <a:gd name="connsiteY4" fmla="*/ 688063 h 688063"/>
                <a:gd name="connsiteX5" fmla="*/ 301932 w 603864"/>
                <a:gd name="connsiteY5" fmla="*/ 344032 h 688063"/>
                <a:gd name="connsiteX6" fmla="*/ 0 w 603864"/>
                <a:gd name="connsiteY6" fmla="*/ 0 h 688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3864" h="688063">
                  <a:moveTo>
                    <a:pt x="603864" y="1"/>
                  </a:moveTo>
                  <a:lnTo>
                    <a:pt x="603864" y="344032"/>
                  </a:lnTo>
                  <a:lnTo>
                    <a:pt x="301932" y="688062"/>
                  </a:lnTo>
                  <a:lnTo>
                    <a:pt x="0" y="344032"/>
                  </a:lnTo>
                  <a:lnTo>
                    <a:pt x="0" y="1"/>
                  </a:lnTo>
                  <a:lnTo>
                    <a:pt x="301932" y="344032"/>
                  </a:lnTo>
                  <a:lnTo>
                    <a:pt x="603864" y="1"/>
                  </a:lnTo>
                  <a:close/>
                </a:path>
              </a:pathLst>
            </a:custGeom>
            <a:solidFill>
              <a:srgbClr val="ABDBFF"/>
            </a:solidFill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3496" tIns="23495" rIns="23495" bIns="23496" spcCol="1270" anchor="ctr"/>
            <a:lstStyle/>
            <a:p>
              <a:pPr algn="ctr" defTabSz="16446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GB" sz="37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Freeform 24"/>
            <p:cNvSpPr/>
            <p:nvPr/>
          </p:nvSpPr>
          <p:spPr bwMode="auto">
            <a:xfrm>
              <a:off x="1119188" y="4996053"/>
              <a:ext cx="7916862" cy="353612"/>
            </a:xfrm>
            <a:custGeom>
              <a:avLst/>
              <a:gdLst>
                <a:gd name="connsiteX0" fmla="*/ 66721 w 400320"/>
                <a:gd name="connsiteY0" fmla="*/ 0 h 7917016"/>
                <a:gd name="connsiteX1" fmla="*/ 333599 w 400320"/>
                <a:gd name="connsiteY1" fmla="*/ 0 h 7917016"/>
                <a:gd name="connsiteX2" fmla="*/ 400320 w 400320"/>
                <a:gd name="connsiteY2" fmla="*/ 66721 h 7917016"/>
                <a:gd name="connsiteX3" fmla="*/ 400320 w 400320"/>
                <a:gd name="connsiteY3" fmla="*/ 7917016 h 7917016"/>
                <a:gd name="connsiteX4" fmla="*/ 400320 w 400320"/>
                <a:gd name="connsiteY4" fmla="*/ 7917016 h 7917016"/>
                <a:gd name="connsiteX5" fmla="*/ 0 w 400320"/>
                <a:gd name="connsiteY5" fmla="*/ 7917016 h 7917016"/>
                <a:gd name="connsiteX6" fmla="*/ 0 w 400320"/>
                <a:gd name="connsiteY6" fmla="*/ 7917016 h 7917016"/>
                <a:gd name="connsiteX7" fmla="*/ 0 w 400320"/>
                <a:gd name="connsiteY7" fmla="*/ 66721 h 7917016"/>
                <a:gd name="connsiteX8" fmla="*/ 66721 w 400320"/>
                <a:gd name="connsiteY8" fmla="*/ 0 h 7917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0320" h="7917016">
                  <a:moveTo>
                    <a:pt x="400320" y="1319529"/>
                  </a:moveTo>
                  <a:lnTo>
                    <a:pt x="400320" y="6597487"/>
                  </a:lnTo>
                  <a:cubicBezTo>
                    <a:pt x="400320" y="7326237"/>
                    <a:pt x="398810" y="7917006"/>
                    <a:pt x="396946" y="7917006"/>
                  </a:cubicBezTo>
                  <a:lnTo>
                    <a:pt x="0" y="7917006"/>
                  </a:lnTo>
                  <a:lnTo>
                    <a:pt x="0" y="7917006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396946" y="10"/>
                  </a:lnTo>
                  <a:cubicBezTo>
                    <a:pt x="398810" y="10"/>
                    <a:pt x="400320" y="590779"/>
                    <a:pt x="400320" y="1319529"/>
                  </a:cubicBezTo>
                  <a:close/>
                </a:path>
              </a:pathLst>
            </a:custGeom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13792" tIns="29702" rIns="29702" bIns="29703" anchor="ctr"/>
            <a:lstStyle/>
            <a:p>
              <a:pPr marL="171450" lvl="1" indent="-171450" defTabSz="711200">
                <a:lnSpc>
                  <a:spcPct val="90000"/>
                </a:lnSpc>
                <a:spcAft>
                  <a:spcPct val="15000"/>
                </a:spcAft>
                <a:buFontTx/>
                <a:buChar char="•"/>
                <a:defRPr/>
              </a:pPr>
              <a:r>
                <a:rPr lang="en-US" sz="1600" b="1" dirty="0" smtClean="0">
                  <a:solidFill>
                    <a:srgbClr val="000000"/>
                  </a:solidFill>
                  <a:latin typeface="Calibri" pitchFamily="34" charset="0"/>
                </a:rPr>
                <a:t>02/02/19 </a:t>
              </a:r>
              <a:r>
                <a:rPr lang="en-US" sz="1600" b="1" dirty="0">
                  <a:solidFill>
                    <a:srgbClr val="000000"/>
                  </a:solidFill>
                  <a:latin typeface="Calibri" pitchFamily="34" charset="0"/>
                </a:rPr>
                <a:t>- Final Verification of Preparedness by State level Nodal </a:t>
              </a:r>
              <a:r>
                <a:rPr lang="en-US" sz="1600" b="1" dirty="0" smtClean="0">
                  <a:solidFill>
                    <a:srgbClr val="000000"/>
                  </a:solidFill>
                  <a:latin typeface="Calibri" pitchFamily="34" charset="0"/>
                </a:rPr>
                <a:t>officers</a:t>
              </a:r>
              <a:endParaRPr lang="en-GB" sz="1600" b="1" dirty="0">
                <a:solidFill>
                  <a:srgbClr val="000000"/>
                </a:solidFill>
                <a:latin typeface="Calibri" pitchFamily="34" charset="0"/>
              </a:endParaRPr>
            </a:p>
          </p:txBody>
        </p:sp>
        <p:sp>
          <p:nvSpPr>
            <p:cNvPr id="26" name="Freeform 25"/>
            <p:cNvSpPr/>
            <p:nvPr/>
          </p:nvSpPr>
          <p:spPr bwMode="auto">
            <a:xfrm>
              <a:off x="361950" y="5562111"/>
              <a:ext cx="688975" cy="531116"/>
            </a:xfrm>
            <a:custGeom>
              <a:avLst/>
              <a:gdLst>
                <a:gd name="connsiteX0" fmla="*/ 0 w 603864"/>
                <a:gd name="connsiteY0" fmla="*/ 0 h 688063"/>
                <a:gd name="connsiteX1" fmla="*/ 301932 w 603864"/>
                <a:gd name="connsiteY1" fmla="*/ 0 h 688063"/>
                <a:gd name="connsiteX2" fmla="*/ 603864 w 603864"/>
                <a:gd name="connsiteY2" fmla="*/ 344032 h 688063"/>
                <a:gd name="connsiteX3" fmla="*/ 301932 w 603864"/>
                <a:gd name="connsiteY3" fmla="*/ 688063 h 688063"/>
                <a:gd name="connsiteX4" fmla="*/ 0 w 603864"/>
                <a:gd name="connsiteY4" fmla="*/ 688063 h 688063"/>
                <a:gd name="connsiteX5" fmla="*/ 301932 w 603864"/>
                <a:gd name="connsiteY5" fmla="*/ 344032 h 688063"/>
                <a:gd name="connsiteX6" fmla="*/ 0 w 603864"/>
                <a:gd name="connsiteY6" fmla="*/ 0 h 688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3864" h="688063">
                  <a:moveTo>
                    <a:pt x="603864" y="1"/>
                  </a:moveTo>
                  <a:lnTo>
                    <a:pt x="603864" y="344032"/>
                  </a:lnTo>
                  <a:lnTo>
                    <a:pt x="301932" y="688062"/>
                  </a:lnTo>
                  <a:lnTo>
                    <a:pt x="0" y="344032"/>
                  </a:lnTo>
                  <a:lnTo>
                    <a:pt x="0" y="1"/>
                  </a:lnTo>
                  <a:lnTo>
                    <a:pt x="301932" y="344032"/>
                  </a:lnTo>
                  <a:lnTo>
                    <a:pt x="603864" y="1"/>
                  </a:lnTo>
                  <a:close/>
                </a:path>
              </a:pathLst>
            </a:custGeom>
            <a:solidFill>
              <a:srgbClr val="ABDBFF"/>
            </a:solidFill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3496" tIns="23495" rIns="23495" bIns="23496" spcCol="1270" anchor="ctr"/>
            <a:lstStyle/>
            <a:p>
              <a:pPr algn="ctr" defTabSz="16446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GB" sz="37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Freeform 26"/>
            <p:cNvSpPr/>
            <p:nvPr/>
          </p:nvSpPr>
          <p:spPr bwMode="auto">
            <a:xfrm>
              <a:off x="1119188" y="5489432"/>
              <a:ext cx="7916862" cy="353611"/>
            </a:xfrm>
            <a:custGeom>
              <a:avLst/>
              <a:gdLst>
                <a:gd name="connsiteX0" fmla="*/ 66721 w 400320"/>
                <a:gd name="connsiteY0" fmla="*/ 0 h 7917016"/>
                <a:gd name="connsiteX1" fmla="*/ 333599 w 400320"/>
                <a:gd name="connsiteY1" fmla="*/ 0 h 7917016"/>
                <a:gd name="connsiteX2" fmla="*/ 400320 w 400320"/>
                <a:gd name="connsiteY2" fmla="*/ 66721 h 7917016"/>
                <a:gd name="connsiteX3" fmla="*/ 400320 w 400320"/>
                <a:gd name="connsiteY3" fmla="*/ 7917016 h 7917016"/>
                <a:gd name="connsiteX4" fmla="*/ 400320 w 400320"/>
                <a:gd name="connsiteY4" fmla="*/ 7917016 h 7917016"/>
                <a:gd name="connsiteX5" fmla="*/ 0 w 400320"/>
                <a:gd name="connsiteY5" fmla="*/ 7917016 h 7917016"/>
                <a:gd name="connsiteX6" fmla="*/ 0 w 400320"/>
                <a:gd name="connsiteY6" fmla="*/ 7917016 h 7917016"/>
                <a:gd name="connsiteX7" fmla="*/ 0 w 400320"/>
                <a:gd name="connsiteY7" fmla="*/ 66721 h 7917016"/>
                <a:gd name="connsiteX8" fmla="*/ 66721 w 400320"/>
                <a:gd name="connsiteY8" fmla="*/ 0 h 7917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0320" h="7917016">
                  <a:moveTo>
                    <a:pt x="400320" y="1319529"/>
                  </a:moveTo>
                  <a:lnTo>
                    <a:pt x="400320" y="6597487"/>
                  </a:lnTo>
                  <a:cubicBezTo>
                    <a:pt x="400320" y="7326237"/>
                    <a:pt x="398810" y="7917006"/>
                    <a:pt x="396946" y="7917006"/>
                  </a:cubicBezTo>
                  <a:lnTo>
                    <a:pt x="0" y="7917006"/>
                  </a:lnTo>
                  <a:lnTo>
                    <a:pt x="0" y="7917006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396946" y="10"/>
                  </a:lnTo>
                  <a:cubicBezTo>
                    <a:pt x="398810" y="10"/>
                    <a:pt x="400320" y="590779"/>
                    <a:pt x="400320" y="1319529"/>
                  </a:cubicBezTo>
                  <a:close/>
                </a:path>
              </a:pathLst>
            </a:custGeom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56464" tIns="33512" rIns="33512" bIns="33513" spcCol="1270" anchor="ctr"/>
            <a:lstStyle/>
            <a:p>
              <a:pPr marL="171450" lvl="1" indent="-171450" defTabSz="711200">
                <a:lnSpc>
                  <a:spcPct val="90000"/>
                </a:lnSpc>
                <a:spcAft>
                  <a:spcPct val="15000"/>
                </a:spcAft>
                <a:buFontTx/>
                <a:buChar char="•"/>
                <a:defRPr/>
              </a:pPr>
              <a:r>
                <a:rPr lang="en-US" sz="1600" b="1" dirty="0" smtClean="0">
                  <a:solidFill>
                    <a:srgbClr val="000000"/>
                  </a:solidFill>
                  <a:latin typeface="Calibri" pitchFamily="34" charset="0"/>
                </a:rPr>
                <a:t>01-02/02/19 – Awareness campaigns like </a:t>
              </a:r>
              <a:r>
                <a:rPr lang="en-US" sz="1600" b="1" dirty="0" err="1" smtClean="0">
                  <a:solidFill>
                    <a:srgbClr val="000000"/>
                  </a:solidFill>
                  <a:latin typeface="Calibri" pitchFamily="34" charset="0"/>
                </a:rPr>
                <a:t>Miking</a:t>
              </a:r>
              <a:r>
                <a:rPr lang="en-US" sz="1600" b="1" dirty="0" smtClean="0">
                  <a:solidFill>
                    <a:srgbClr val="000000"/>
                  </a:solidFill>
                  <a:latin typeface="Calibri" pitchFamily="34" charset="0"/>
                </a:rPr>
                <a:t>, </a:t>
              </a:r>
              <a:r>
                <a:rPr lang="en-US" sz="1600" b="1" dirty="0" err="1" smtClean="0">
                  <a:solidFill>
                    <a:srgbClr val="000000"/>
                  </a:solidFill>
                  <a:latin typeface="Calibri" pitchFamily="34" charset="0"/>
                </a:rPr>
                <a:t>Jatha</a:t>
              </a:r>
              <a:r>
                <a:rPr lang="en-US" sz="1600" b="1" dirty="0" smtClean="0">
                  <a:solidFill>
                    <a:srgbClr val="000000"/>
                  </a:solidFill>
                  <a:latin typeface="Calibri" pitchFamily="34" charset="0"/>
                </a:rPr>
                <a:t> </a:t>
              </a:r>
              <a:r>
                <a:rPr lang="en-US" sz="1600" b="1" dirty="0" err="1" smtClean="0">
                  <a:solidFill>
                    <a:srgbClr val="000000"/>
                  </a:solidFill>
                  <a:latin typeface="Calibri" pitchFamily="34" charset="0"/>
                </a:rPr>
                <a:t>etc</a:t>
              </a:r>
              <a:endParaRPr lang="en-GB" sz="1600" b="1" dirty="0">
                <a:solidFill>
                  <a:srgbClr val="000000"/>
                </a:solidFill>
                <a:latin typeface="Calibri" pitchFamily="34" charset="0"/>
              </a:endParaRPr>
            </a:p>
          </p:txBody>
        </p:sp>
        <p:sp>
          <p:nvSpPr>
            <p:cNvPr id="5" name="Text Box 6"/>
            <p:cNvSpPr txBox="1">
              <a:spLocks noChangeArrowheads="1"/>
            </p:cNvSpPr>
            <p:nvPr/>
          </p:nvSpPr>
          <p:spPr bwMode="auto">
            <a:xfrm>
              <a:off x="0" y="0"/>
              <a:ext cx="9144000" cy="4000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000" b="1" dirty="0">
                  <a:solidFill>
                    <a:srgbClr val="FFFFFF"/>
                  </a:solidFill>
                  <a:latin typeface="Calibri" pitchFamily="34" charset="0"/>
                </a:rPr>
                <a:t>DISTRICT LEVEL PROPOSED TIME LINE OF ACTIVITIES : NID </a:t>
              </a:r>
              <a:r>
                <a:rPr lang="en-US" altLang="en-US" sz="2000" b="1" dirty="0" smtClean="0">
                  <a:solidFill>
                    <a:srgbClr val="FFFFFF"/>
                  </a:solidFill>
                  <a:latin typeface="Calibri" pitchFamily="34" charset="0"/>
                </a:rPr>
                <a:t>2019– </a:t>
              </a:r>
              <a:r>
                <a:rPr lang="en-US" altLang="en-US" sz="2000" b="1" dirty="0">
                  <a:solidFill>
                    <a:srgbClr val="FFFFFF"/>
                  </a:solidFill>
                  <a:latin typeface="Calibri" pitchFamily="34" charset="0"/>
                </a:rPr>
                <a:t>Karnataka</a:t>
              </a:r>
            </a:p>
          </p:txBody>
        </p:sp>
        <p:sp>
          <p:nvSpPr>
            <p:cNvPr id="32" name="Freeform 31"/>
            <p:cNvSpPr/>
            <p:nvPr/>
          </p:nvSpPr>
          <p:spPr bwMode="auto">
            <a:xfrm>
              <a:off x="382812" y="6452992"/>
              <a:ext cx="668113" cy="405008"/>
            </a:xfrm>
            <a:custGeom>
              <a:avLst/>
              <a:gdLst>
                <a:gd name="connsiteX0" fmla="*/ 0 w 603864"/>
                <a:gd name="connsiteY0" fmla="*/ 0 h 688063"/>
                <a:gd name="connsiteX1" fmla="*/ 301932 w 603864"/>
                <a:gd name="connsiteY1" fmla="*/ 0 h 688063"/>
                <a:gd name="connsiteX2" fmla="*/ 603864 w 603864"/>
                <a:gd name="connsiteY2" fmla="*/ 344032 h 688063"/>
                <a:gd name="connsiteX3" fmla="*/ 301932 w 603864"/>
                <a:gd name="connsiteY3" fmla="*/ 688063 h 688063"/>
                <a:gd name="connsiteX4" fmla="*/ 0 w 603864"/>
                <a:gd name="connsiteY4" fmla="*/ 688063 h 688063"/>
                <a:gd name="connsiteX5" fmla="*/ 301932 w 603864"/>
                <a:gd name="connsiteY5" fmla="*/ 344032 h 688063"/>
                <a:gd name="connsiteX6" fmla="*/ 0 w 603864"/>
                <a:gd name="connsiteY6" fmla="*/ 0 h 688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3864" h="688063">
                  <a:moveTo>
                    <a:pt x="603864" y="1"/>
                  </a:moveTo>
                  <a:lnTo>
                    <a:pt x="603864" y="344032"/>
                  </a:lnTo>
                  <a:lnTo>
                    <a:pt x="301932" y="688062"/>
                  </a:lnTo>
                  <a:lnTo>
                    <a:pt x="0" y="344032"/>
                  </a:lnTo>
                  <a:lnTo>
                    <a:pt x="0" y="1"/>
                  </a:lnTo>
                  <a:lnTo>
                    <a:pt x="301932" y="344032"/>
                  </a:lnTo>
                  <a:lnTo>
                    <a:pt x="603864" y="1"/>
                  </a:lnTo>
                  <a:close/>
                </a:path>
              </a:pathLst>
            </a:custGeom>
            <a:solidFill>
              <a:srgbClr val="ABDBFF"/>
            </a:solidFill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3496" tIns="23495" rIns="23495" bIns="23496" spcCol="1270" anchor="ctr"/>
            <a:lstStyle/>
            <a:p>
              <a:pPr algn="ctr" defTabSz="16446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GB" sz="37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Freeform 32"/>
            <p:cNvSpPr/>
            <p:nvPr/>
          </p:nvSpPr>
          <p:spPr bwMode="auto">
            <a:xfrm>
              <a:off x="1140050" y="6370442"/>
              <a:ext cx="7916862" cy="401637"/>
            </a:xfrm>
            <a:custGeom>
              <a:avLst/>
              <a:gdLst>
                <a:gd name="connsiteX0" fmla="*/ 66721 w 400320"/>
                <a:gd name="connsiteY0" fmla="*/ 0 h 7917016"/>
                <a:gd name="connsiteX1" fmla="*/ 333599 w 400320"/>
                <a:gd name="connsiteY1" fmla="*/ 0 h 7917016"/>
                <a:gd name="connsiteX2" fmla="*/ 400320 w 400320"/>
                <a:gd name="connsiteY2" fmla="*/ 66721 h 7917016"/>
                <a:gd name="connsiteX3" fmla="*/ 400320 w 400320"/>
                <a:gd name="connsiteY3" fmla="*/ 7917016 h 7917016"/>
                <a:gd name="connsiteX4" fmla="*/ 400320 w 400320"/>
                <a:gd name="connsiteY4" fmla="*/ 7917016 h 7917016"/>
                <a:gd name="connsiteX5" fmla="*/ 0 w 400320"/>
                <a:gd name="connsiteY5" fmla="*/ 7917016 h 7917016"/>
                <a:gd name="connsiteX6" fmla="*/ 0 w 400320"/>
                <a:gd name="connsiteY6" fmla="*/ 7917016 h 7917016"/>
                <a:gd name="connsiteX7" fmla="*/ 0 w 400320"/>
                <a:gd name="connsiteY7" fmla="*/ 66721 h 7917016"/>
                <a:gd name="connsiteX8" fmla="*/ 66721 w 400320"/>
                <a:gd name="connsiteY8" fmla="*/ 0 h 7917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0320" h="7917016">
                  <a:moveTo>
                    <a:pt x="400320" y="1319529"/>
                  </a:moveTo>
                  <a:lnTo>
                    <a:pt x="400320" y="6597487"/>
                  </a:lnTo>
                  <a:cubicBezTo>
                    <a:pt x="400320" y="7326237"/>
                    <a:pt x="398810" y="7917006"/>
                    <a:pt x="396946" y="7917006"/>
                  </a:cubicBezTo>
                  <a:lnTo>
                    <a:pt x="0" y="7917006"/>
                  </a:lnTo>
                  <a:lnTo>
                    <a:pt x="0" y="7917006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396946" y="10"/>
                  </a:lnTo>
                  <a:cubicBezTo>
                    <a:pt x="398810" y="10"/>
                    <a:pt x="400320" y="590779"/>
                    <a:pt x="400320" y="1319529"/>
                  </a:cubicBezTo>
                  <a:close/>
                </a:path>
              </a:pathLst>
            </a:custGeom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56464" tIns="33512" rIns="33512" bIns="33513" spcCol="1270" anchor="ctr"/>
            <a:lstStyle/>
            <a:p>
              <a:pPr marL="171450" lvl="1" indent="-171450" defTabSz="80010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r>
                <a:rPr lang="en-US" sz="2400" b="1" dirty="0" smtClean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03</a:t>
              </a:r>
              <a:r>
                <a:rPr lang="en-US" sz="2400" b="1" baseline="30000" dirty="0" smtClean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rd</a:t>
              </a:r>
              <a:r>
                <a:rPr lang="en-US" sz="2400" b="1" dirty="0" smtClean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 February </a:t>
              </a:r>
              <a:r>
                <a:rPr lang="en-US" sz="2400" b="1" dirty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to </a:t>
              </a:r>
              <a:r>
                <a:rPr lang="en-US" sz="2400" b="1" dirty="0" smtClean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06</a:t>
              </a:r>
              <a:r>
                <a:rPr lang="en-US" sz="2400" b="1" baseline="30000" dirty="0" smtClean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</a:t>
              </a:r>
              <a:r>
                <a:rPr lang="en-US" sz="2400" b="1" dirty="0" smtClean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 February 2019 </a:t>
              </a:r>
              <a:r>
                <a:rPr lang="en-US" sz="2400" b="1" dirty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NID days</a:t>
              </a:r>
              <a:endParaRPr lang="en-GB" sz="2400" b="1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" name="Freeform 33"/>
            <p:cNvSpPr/>
            <p:nvPr/>
          </p:nvSpPr>
          <p:spPr bwMode="auto">
            <a:xfrm>
              <a:off x="382812" y="5988675"/>
              <a:ext cx="668113" cy="464317"/>
            </a:xfrm>
            <a:custGeom>
              <a:avLst/>
              <a:gdLst>
                <a:gd name="connsiteX0" fmla="*/ 0 w 603864"/>
                <a:gd name="connsiteY0" fmla="*/ 0 h 688063"/>
                <a:gd name="connsiteX1" fmla="*/ 301932 w 603864"/>
                <a:gd name="connsiteY1" fmla="*/ 0 h 688063"/>
                <a:gd name="connsiteX2" fmla="*/ 603864 w 603864"/>
                <a:gd name="connsiteY2" fmla="*/ 344032 h 688063"/>
                <a:gd name="connsiteX3" fmla="*/ 301932 w 603864"/>
                <a:gd name="connsiteY3" fmla="*/ 688063 h 688063"/>
                <a:gd name="connsiteX4" fmla="*/ 0 w 603864"/>
                <a:gd name="connsiteY4" fmla="*/ 688063 h 688063"/>
                <a:gd name="connsiteX5" fmla="*/ 301932 w 603864"/>
                <a:gd name="connsiteY5" fmla="*/ 344032 h 688063"/>
                <a:gd name="connsiteX6" fmla="*/ 0 w 603864"/>
                <a:gd name="connsiteY6" fmla="*/ 0 h 688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3864" h="688063">
                  <a:moveTo>
                    <a:pt x="603864" y="1"/>
                  </a:moveTo>
                  <a:lnTo>
                    <a:pt x="603864" y="344032"/>
                  </a:lnTo>
                  <a:lnTo>
                    <a:pt x="301932" y="688062"/>
                  </a:lnTo>
                  <a:lnTo>
                    <a:pt x="0" y="344032"/>
                  </a:lnTo>
                  <a:lnTo>
                    <a:pt x="0" y="1"/>
                  </a:lnTo>
                  <a:lnTo>
                    <a:pt x="301932" y="344032"/>
                  </a:lnTo>
                  <a:lnTo>
                    <a:pt x="603864" y="1"/>
                  </a:lnTo>
                  <a:close/>
                </a:path>
              </a:pathLst>
            </a:custGeom>
            <a:solidFill>
              <a:srgbClr val="ABDBFF"/>
            </a:solidFill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3496" tIns="23495" rIns="23495" bIns="23496" spcCol="1270" anchor="ctr"/>
            <a:lstStyle/>
            <a:p>
              <a:pPr algn="ctr" defTabSz="16446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GB" sz="37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Freeform 34"/>
            <p:cNvSpPr/>
            <p:nvPr/>
          </p:nvSpPr>
          <p:spPr bwMode="auto">
            <a:xfrm>
              <a:off x="1140050" y="5909930"/>
              <a:ext cx="7916862" cy="383124"/>
            </a:xfrm>
            <a:custGeom>
              <a:avLst/>
              <a:gdLst>
                <a:gd name="connsiteX0" fmla="*/ 66721 w 400320"/>
                <a:gd name="connsiteY0" fmla="*/ 0 h 7917016"/>
                <a:gd name="connsiteX1" fmla="*/ 333599 w 400320"/>
                <a:gd name="connsiteY1" fmla="*/ 0 h 7917016"/>
                <a:gd name="connsiteX2" fmla="*/ 400320 w 400320"/>
                <a:gd name="connsiteY2" fmla="*/ 66721 h 7917016"/>
                <a:gd name="connsiteX3" fmla="*/ 400320 w 400320"/>
                <a:gd name="connsiteY3" fmla="*/ 7917016 h 7917016"/>
                <a:gd name="connsiteX4" fmla="*/ 400320 w 400320"/>
                <a:gd name="connsiteY4" fmla="*/ 7917016 h 7917016"/>
                <a:gd name="connsiteX5" fmla="*/ 0 w 400320"/>
                <a:gd name="connsiteY5" fmla="*/ 7917016 h 7917016"/>
                <a:gd name="connsiteX6" fmla="*/ 0 w 400320"/>
                <a:gd name="connsiteY6" fmla="*/ 7917016 h 7917016"/>
                <a:gd name="connsiteX7" fmla="*/ 0 w 400320"/>
                <a:gd name="connsiteY7" fmla="*/ 66721 h 7917016"/>
                <a:gd name="connsiteX8" fmla="*/ 66721 w 400320"/>
                <a:gd name="connsiteY8" fmla="*/ 0 h 7917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0320" h="7917016">
                  <a:moveTo>
                    <a:pt x="400320" y="1319529"/>
                  </a:moveTo>
                  <a:lnTo>
                    <a:pt x="400320" y="6597487"/>
                  </a:lnTo>
                  <a:cubicBezTo>
                    <a:pt x="400320" y="7326237"/>
                    <a:pt x="398810" y="7917006"/>
                    <a:pt x="396946" y="7917006"/>
                  </a:cubicBezTo>
                  <a:lnTo>
                    <a:pt x="0" y="7917006"/>
                  </a:lnTo>
                  <a:lnTo>
                    <a:pt x="0" y="7917006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396946" y="10"/>
                  </a:lnTo>
                  <a:cubicBezTo>
                    <a:pt x="398810" y="10"/>
                    <a:pt x="400320" y="590779"/>
                    <a:pt x="400320" y="1319529"/>
                  </a:cubicBezTo>
                  <a:close/>
                </a:path>
              </a:pathLst>
            </a:custGeom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56464" tIns="33512" rIns="33512" bIns="33513" spcCol="1270" anchor="ctr"/>
            <a:lstStyle/>
            <a:p>
              <a:pPr marL="171450" lvl="1" indent="-171450" defTabSz="71120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r>
                <a:rPr lang="en-US" sz="1600" b="1" dirty="0" smtClean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03/02/19 </a:t>
              </a:r>
              <a:r>
                <a:rPr lang="en-US" sz="1600" b="1" dirty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- Inauguration by </a:t>
              </a:r>
              <a:r>
                <a:rPr lang="en-US" sz="1600" b="1" dirty="0" smtClean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In-charge Minister / DC / CEO / other dignitaries </a:t>
              </a:r>
              <a:endParaRPr lang="en-GB" sz="1600" b="1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6086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386" name="Group 1"/>
          <p:cNvGrpSpPr>
            <a:grpSpLocks/>
          </p:cNvGrpSpPr>
          <p:nvPr/>
        </p:nvGrpSpPr>
        <p:grpSpPr bwMode="auto">
          <a:xfrm>
            <a:off x="179388" y="520700"/>
            <a:ext cx="8713789" cy="6337300"/>
            <a:chOff x="179512" y="520776"/>
            <a:chExt cx="8712968" cy="6337224"/>
          </a:xfrm>
        </p:grpSpPr>
        <p:sp>
          <p:nvSpPr>
            <p:cNvPr id="144388" name="Rectangle 2"/>
            <p:cNvSpPr>
              <a:spLocks noChangeArrowheads="1"/>
            </p:cNvSpPr>
            <p:nvPr/>
          </p:nvSpPr>
          <p:spPr bwMode="auto">
            <a:xfrm>
              <a:off x="179512" y="520776"/>
              <a:ext cx="8712968" cy="6337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" name="Freeform 5"/>
            <p:cNvSpPr/>
            <p:nvPr/>
          </p:nvSpPr>
          <p:spPr>
            <a:xfrm>
              <a:off x="258880" y="525539"/>
              <a:ext cx="649226" cy="436557"/>
            </a:xfrm>
            <a:custGeom>
              <a:avLst/>
              <a:gdLst>
                <a:gd name="connsiteX0" fmla="*/ 0 w 437052"/>
                <a:gd name="connsiteY0" fmla="*/ 0 h 648838"/>
                <a:gd name="connsiteX1" fmla="*/ 218526 w 437052"/>
                <a:gd name="connsiteY1" fmla="*/ 0 h 648838"/>
                <a:gd name="connsiteX2" fmla="*/ 437052 w 437052"/>
                <a:gd name="connsiteY2" fmla="*/ 324419 h 648838"/>
                <a:gd name="connsiteX3" fmla="*/ 218526 w 437052"/>
                <a:gd name="connsiteY3" fmla="*/ 648838 h 648838"/>
                <a:gd name="connsiteX4" fmla="*/ 0 w 437052"/>
                <a:gd name="connsiteY4" fmla="*/ 648838 h 648838"/>
                <a:gd name="connsiteX5" fmla="*/ 218526 w 437052"/>
                <a:gd name="connsiteY5" fmla="*/ 324419 h 648838"/>
                <a:gd name="connsiteX6" fmla="*/ 0 w 437052"/>
                <a:gd name="connsiteY6" fmla="*/ 0 h 648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7052" h="648838">
                  <a:moveTo>
                    <a:pt x="437052" y="1"/>
                  </a:moveTo>
                  <a:lnTo>
                    <a:pt x="437052" y="324419"/>
                  </a:lnTo>
                  <a:lnTo>
                    <a:pt x="218526" y="648837"/>
                  </a:lnTo>
                  <a:lnTo>
                    <a:pt x="0" y="324419"/>
                  </a:lnTo>
                  <a:lnTo>
                    <a:pt x="0" y="1"/>
                  </a:lnTo>
                  <a:lnTo>
                    <a:pt x="218526" y="324419"/>
                  </a:lnTo>
                  <a:lnTo>
                    <a:pt x="437052" y="1"/>
                  </a:lnTo>
                  <a:close/>
                </a:path>
              </a:pathLst>
            </a:custGeom>
            <a:solidFill>
              <a:srgbClr val="69BFFF"/>
            </a:solidFill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0160" tIns="10160" rIns="10160" bIns="10160" spcCol="1270" anchor="ctr"/>
            <a:lstStyle/>
            <a:p>
              <a:pPr algn="ctr" defTabSz="7112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GB" sz="1600" b="1" dirty="0">
                <a:solidFill>
                  <a:srgbClr val="FFFFFF"/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7" name="Freeform 6"/>
            <p:cNvSpPr/>
            <p:nvPr/>
          </p:nvSpPr>
          <p:spPr>
            <a:xfrm>
              <a:off x="974774" y="520776"/>
              <a:ext cx="7917706" cy="261935"/>
            </a:xfrm>
            <a:custGeom>
              <a:avLst/>
              <a:gdLst>
                <a:gd name="connsiteX0" fmla="*/ 43599 w 261586"/>
                <a:gd name="connsiteY0" fmla="*/ 0 h 7917016"/>
                <a:gd name="connsiteX1" fmla="*/ 217987 w 261586"/>
                <a:gd name="connsiteY1" fmla="*/ 0 h 7917016"/>
                <a:gd name="connsiteX2" fmla="*/ 261586 w 261586"/>
                <a:gd name="connsiteY2" fmla="*/ 43599 h 7917016"/>
                <a:gd name="connsiteX3" fmla="*/ 261586 w 261586"/>
                <a:gd name="connsiteY3" fmla="*/ 7917016 h 7917016"/>
                <a:gd name="connsiteX4" fmla="*/ 261586 w 261586"/>
                <a:gd name="connsiteY4" fmla="*/ 7917016 h 7917016"/>
                <a:gd name="connsiteX5" fmla="*/ 0 w 261586"/>
                <a:gd name="connsiteY5" fmla="*/ 7917016 h 7917016"/>
                <a:gd name="connsiteX6" fmla="*/ 0 w 261586"/>
                <a:gd name="connsiteY6" fmla="*/ 7917016 h 7917016"/>
                <a:gd name="connsiteX7" fmla="*/ 0 w 261586"/>
                <a:gd name="connsiteY7" fmla="*/ 43599 h 7917016"/>
                <a:gd name="connsiteX8" fmla="*/ 43599 w 261586"/>
                <a:gd name="connsiteY8" fmla="*/ 0 h 7917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586" h="7917016">
                  <a:moveTo>
                    <a:pt x="261586" y="1319553"/>
                  </a:moveTo>
                  <a:lnTo>
                    <a:pt x="261586" y="6597463"/>
                  </a:lnTo>
                  <a:cubicBezTo>
                    <a:pt x="261586" y="7326222"/>
                    <a:pt x="260941" y="7917001"/>
                    <a:pt x="260145" y="7917001"/>
                  </a:cubicBezTo>
                  <a:lnTo>
                    <a:pt x="0" y="7917001"/>
                  </a:lnTo>
                  <a:lnTo>
                    <a:pt x="0" y="7917001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260145" y="15"/>
                  </a:lnTo>
                  <a:cubicBezTo>
                    <a:pt x="260941" y="15"/>
                    <a:pt x="261586" y="590794"/>
                    <a:pt x="261586" y="1319553"/>
                  </a:cubicBezTo>
                  <a:close/>
                </a:path>
              </a:pathLst>
            </a:custGeom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13792" tIns="22930" rIns="22930" bIns="22930" spcCol="1270" anchor="ctr"/>
            <a:lstStyle/>
            <a:p>
              <a:pPr marL="171450" lvl="1" indent="-171450" defTabSz="711200">
                <a:lnSpc>
                  <a:spcPct val="90000"/>
                </a:lnSpc>
                <a:spcAft>
                  <a:spcPct val="15000"/>
                </a:spcAft>
                <a:buFontTx/>
                <a:buChar char="•"/>
                <a:defRPr/>
              </a:pPr>
              <a:r>
                <a:rPr lang="en-US" sz="1600" b="1" dirty="0" smtClean="0">
                  <a:solidFill>
                    <a:srgbClr val="000000"/>
                  </a:solidFill>
                </a:rPr>
                <a:t>30/11/18 </a:t>
              </a:r>
              <a:r>
                <a:rPr lang="en-US" sz="1600" b="1" dirty="0">
                  <a:solidFill>
                    <a:srgbClr val="000000"/>
                  </a:solidFill>
                </a:rPr>
                <a:t>- State level meeting of RCHOs and District Trainers</a:t>
              </a:r>
              <a:endParaRPr lang="en-GB" sz="1600" b="1" dirty="0">
                <a:solidFill>
                  <a:srgbClr val="000000"/>
                </a:solidFill>
              </a:endParaRPr>
            </a:p>
          </p:txBody>
        </p:sp>
        <p:sp>
          <p:nvSpPr>
            <p:cNvPr id="8" name="Freeform 7"/>
            <p:cNvSpPr/>
            <p:nvPr/>
          </p:nvSpPr>
          <p:spPr>
            <a:xfrm>
              <a:off x="258880" y="933521"/>
              <a:ext cx="649226" cy="395283"/>
            </a:xfrm>
            <a:custGeom>
              <a:avLst/>
              <a:gdLst>
                <a:gd name="connsiteX0" fmla="*/ 0 w 394591"/>
                <a:gd name="connsiteY0" fmla="*/ 0 h 648838"/>
                <a:gd name="connsiteX1" fmla="*/ 197296 w 394591"/>
                <a:gd name="connsiteY1" fmla="*/ 0 h 648838"/>
                <a:gd name="connsiteX2" fmla="*/ 394591 w 394591"/>
                <a:gd name="connsiteY2" fmla="*/ 324419 h 648838"/>
                <a:gd name="connsiteX3" fmla="*/ 197296 w 394591"/>
                <a:gd name="connsiteY3" fmla="*/ 648838 h 648838"/>
                <a:gd name="connsiteX4" fmla="*/ 0 w 394591"/>
                <a:gd name="connsiteY4" fmla="*/ 648838 h 648838"/>
                <a:gd name="connsiteX5" fmla="*/ 197296 w 394591"/>
                <a:gd name="connsiteY5" fmla="*/ 324419 h 648838"/>
                <a:gd name="connsiteX6" fmla="*/ 0 w 394591"/>
                <a:gd name="connsiteY6" fmla="*/ 0 h 648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4591" h="648838">
                  <a:moveTo>
                    <a:pt x="394591" y="1"/>
                  </a:moveTo>
                  <a:lnTo>
                    <a:pt x="394591" y="324420"/>
                  </a:lnTo>
                  <a:lnTo>
                    <a:pt x="197296" y="648837"/>
                  </a:lnTo>
                  <a:lnTo>
                    <a:pt x="0" y="324420"/>
                  </a:lnTo>
                  <a:lnTo>
                    <a:pt x="0" y="1"/>
                  </a:lnTo>
                  <a:lnTo>
                    <a:pt x="197296" y="324420"/>
                  </a:lnTo>
                  <a:lnTo>
                    <a:pt x="394591" y="1"/>
                  </a:lnTo>
                  <a:close/>
                </a:path>
              </a:pathLst>
            </a:custGeom>
            <a:solidFill>
              <a:srgbClr val="69BFFF"/>
            </a:solidFill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0161" tIns="10160" rIns="10160" bIns="10161" spcCol="1270" anchor="ctr"/>
            <a:lstStyle/>
            <a:p>
              <a:pPr algn="ctr" defTabSz="7112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GB" sz="1600" b="1" dirty="0">
                <a:solidFill>
                  <a:srgbClr val="FFFFFF"/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9" name="Freeform 8"/>
            <p:cNvSpPr/>
            <p:nvPr/>
          </p:nvSpPr>
          <p:spPr>
            <a:xfrm>
              <a:off x="974774" y="879547"/>
              <a:ext cx="7917706" cy="261935"/>
            </a:xfrm>
            <a:custGeom>
              <a:avLst/>
              <a:gdLst>
                <a:gd name="connsiteX0" fmla="*/ 43599 w 261586"/>
                <a:gd name="connsiteY0" fmla="*/ 0 h 7917016"/>
                <a:gd name="connsiteX1" fmla="*/ 217987 w 261586"/>
                <a:gd name="connsiteY1" fmla="*/ 0 h 7917016"/>
                <a:gd name="connsiteX2" fmla="*/ 261586 w 261586"/>
                <a:gd name="connsiteY2" fmla="*/ 43599 h 7917016"/>
                <a:gd name="connsiteX3" fmla="*/ 261586 w 261586"/>
                <a:gd name="connsiteY3" fmla="*/ 7917016 h 7917016"/>
                <a:gd name="connsiteX4" fmla="*/ 261586 w 261586"/>
                <a:gd name="connsiteY4" fmla="*/ 7917016 h 7917016"/>
                <a:gd name="connsiteX5" fmla="*/ 0 w 261586"/>
                <a:gd name="connsiteY5" fmla="*/ 7917016 h 7917016"/>
                <a:gd name="connsiteX6" fmla="*/ 0 w 261586"/>
                <a:gd name="connsiteY6" fmla="*/ 7917016 h 7917016"/>
                <a:gd name="connsiteX7" fmla="*/ 0 w 261586"/>
                <a:gd name="connsiteY7" fmla="*/ 43599 h 7917016"/>
                <a:gd name="connsiteX8" fmla="*/ 43599 w 261586"/>
                <a:gd name="connsiteY8" fmla="*/ 0 h 7917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586" h="7917016">
                  <a:moveTo>
                    <a:pt x="261586" y="1319553"/>
                  </a:moveTo>
                  <a:lnTo>
                    <a:pt x="261586" y="6597463"/>
                  </a:lnTo>
                  <a:cubicBezTo>
                    <a:pt x="261586" y="7326222"/>
                    <a:pt x="260941" y="7917001"/>
                    <a:pt x="260145" y="7917001"/>
                  </a:cubicBezTo>
                  <a:lnTo>
                    <a:pt x="0" y="7917001"/>
                  </a:lnTo>
                  <a:lnTo>
                    <a:pt x="0" y="7917001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260145" y="15"/>
                  </a:lnTo>
                  <a:cubicBezTo>
                    <a:pt x="260941" y="15"/>
                    <a:pt x="261586" y="590794"/>
                    <a:pt x="261586" y="1319553"/>
                  </a:cubicBezTo>
                  <a:close/>
                </a:path>
              </a:pathLst>
            </a:custGeom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13792" tIns="22930" rIns="22930" bIns="22930" anchor="ctr"/>
            <a:lstStyle/>
            <a:p>
              <a:pPr marL="171450" lvl="1" indent="-171450" defTabSz="71120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r>
                <a:rPr lang="en-US" sz="1600" b="1" dirty="0" smtClean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cs typeface="Calibri" panose="020F0502020204030204" pitchFamily="34" charset="0"/>
                </a:rPr>
                <a:t>&lt; 10/12/18 - </a:t>
              </a:r>
              <a:r>
                <a:rPr lang="en-US" sz="1600" b="1" dirty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cs typeface="Calibri" panose="020F0502020204030204" pitchFamily="34" charset="0"/>
                </a:rPr>
                <a:t>Preliminary State Co-ordination meeting</a:t>
              </a:r>
              <a:endParaRPr lang="en-GB" sz="1600" b="1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10" name="Freeform 9"/>
            <p:cNvSpPr/>
            <p:nvPr/>
          </p:nvSpPr>
          <p:spPr>
            <a:xfrm>
              <a:off x="258880" y="1300230"/>
              <a:ext cx="649226" cy="428620"/>
            </a:xfrm>
            <a:custGeom>
              <a:avLst/>
              <a:gdLst>
                <a:gd name="connsiteX0" fmla="*/ 0 w 428365"/>
                <a:gd name="connsiteY0" fmla="*/ 0 h 648838"/>
                <a:gd name="connsiteX1" fmla="*/ 214183 w 428365"/>
                <a:gd name="connsiteY1" fmla="*/ 0 h 648838"/>
                <a:gd name="connsiteX2" fmla="*/ 428365 w 428365"/>
                <a:gd name="connsiteY2" fmla="*/ 324419 h 648838"/>
                <a:gd name="connsiteX3" fmla="*/ 214183 w 428365"/>
                <a:gd name="connsiteY3" fmla="*/ 648838 h 648838"/>
                <a:gd name="connsiteX4" fmla="*/ 0 w 428365"/>
                <a:gd name="connsiteY4" fmla="*/ 648838 h 648838"/>
                <a:gd name="connsiteX5" fmla="*/ 214183 w 428365"/>
                <a:gd name="connsiteY5" fmla="*/ 324419 h 648838"/>
                <a:gd name="connsiteX6" fmla="*/ 0 w 428365"/>
                <a:gd name="connsiteY6" fmla="*/ 0 h 648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8365" h="648838">
                  <a:moveTo>
                    <a:pt x="428365" y="1"/>
                  </a:moveTo>
                  <a:lnTo>
                    <a:pt x="428365" y="324420"/>
                  </a:lnTo>
                  <a:lnTo>
                    <a:pt x="214183" y="648837"/>
                  </a:lnTo>
                  <a:lnTo>
                    <a:pt x="0" y="324420"/>
                  </a:lnTo>
                  <a:lnTo>
                    <a:pt x="0" y="1"/>
                  </a:lnTo>
                  <a:lnTo>
                    <a:pt x="214183" y="324420"/>
                  </a:lnTo>
                  <a:lnTo>
                    <a:pt x="428365" y="1"/>
                  </a:lnTo>
                  <a:close/>
                </a:path>
              </a:pathLst>
            </a:custGeom>
            <a:solidFill>
              <a:srgbClr val="69BFFF"/>
            </a:solidFill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0161" tIns="10160" rIns="10160" bIns="10161" spcCol="1270" anchor="ctr"/>
            <a:lstStyle/>
            <a:p>
              <a:pPr algn="ctr" defTabSz="7112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GB" sz="1600" b="1" dirty="0">
                <a:solidFill>
                  <a:srgbClr val="FFFFFF"/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11" name="Freeform 10"/>
            <p:cNvSpPr/>
            <p:nvPr/>
          </p:nvSpPr>
          <p:spPr>
            <a:xfrm>
              <a:off x="974774" y="1263717"/>
              <a:ext cx="7917706" cy="260347"/>
            </a:xfrm>
            <a:custGeom>
              <a:avLst/>
              <a:gdLst>
                <a:gd name="connsiteX0" fmla="*/ 43599 w 261586"/>
                <a:gd name="connsiteY0" fmla="*/ 0 h 7917016"/>
                <a:gd name="connsiteX1" fmla="*/ 217987 w 261586"/>
                <a:gd name="connsiteY1" fmla="*/ 0 h 7917016"/>
                <a:gd name="connsiteX2" fmla="*/ 261586 w 261586"/>
                <a:gd name="connsiteY2" fmla="*/ 43599 h 7917016"/>
                <a:gd name="connsiteX3" fmla="*/ 261586 w 261586"/>
                <a:gd name="connsiteY3" fmla="*/ 7917016 h 7917016"/>
                <a:gd name="connsiteX4" fmla="*/ 261586 w 261586"/>
                <a:gd name="connsiteY4" fmla="*/ 7917016 h 7917016"/>
                <a:gd name="connsiteX5" fmla="*/ 0 w 261586"/>
                <a:gd name="connsiteY5" fmla="*/ 7917016 h 7917016"/>
                <a:gd name="connsiteX6" fmla="*/ 0 w 261586"/>
                <a:gd name="connsiteY6" fmla="*/ 7917016 h 7917016"/>
                <a:gd name="connsiteX7" fmla="*/ 0 w 261586"/>
                <a:gd name="connsiteY7" fmla="*/ 43599 h 7917016"/>
                <a:gd name="connsiteX8" fmla="*/ 43599 w 261586"/>
                <a:gd name="connsiteY8" fmla="*/ 0 h 7917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586" h="7917016">
                  <a:moveTo>
                    <a:pt x="261586" y="1319553"/>
                  </a:moveTo>
                  <a:lnTo>
                    <a:pt x="261586" y="6597463"/>
                  </a:lnTo>
                  <a:cubicBezTo>
                    <a:pt x="261586" y="7326222"/>
                    <a:pt x="260941" y="7917001"/>
                    <a:pt x="260145" y="7917001"/>
                  </a:cubicBezTo>
                  <a:lnTo>
                    <a:pt x="0" y="7917001"/>
                  </a:lnTo>
                  <a:lnTo>
                    <a:pt x="0" y="7917001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260145" y="15"/>
                  </a:lnTo>
                  <a:cubicBezTo>
                    <a:pt x="260941" y="15"/>
                    <a:pt x="261586" y="590794"/>
                    <a:pt x="261586" y="1319553"/>
                  </a:cubicBezTo>
                  <a:close/>
                </a:path>
              </a:pathLst>
            </a:custGeom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13792" tIns="22930" rIns="22930" bIns="22930" anchor="ctr"/>
            <a:lstStyle/>
            <a:p>
              <a:pPr marL="171450" lvl="1" indent="-171450" defTabSz="711200">
                <a:lnSpc>
                  <a:spcPct val="90000"/>
                </a:lnSpc>
                <a:spcAft>
                  <a:spcPct val="15000"/>
                </a:spcAft>
                <a:buFontTx/>
                <a:buChar char="•"/>
                <a:defRPr/>
              </a:pPr>
              <a:r>
                <a:rPr lang="en-US" sz="1600" b="1" dirty="0" smtClean="0">
                  <a:solidFill>
                    <a:srgbClr val="000000"/>
                  </a:solidFill>
                </a:rPr>
                <a:t>&lt;</a:t>
              </a:r>
              <a:r>
                <a:rPr lang="en-US" sz="1600" b="1" dirty="0">
                  <a:solidFill>
                    <a:srgbClr val="000000"/>
                  </a:solidFill>
                </a:rPr>
                <a:t> </a:t>
              </a:r>
              <a:r>
                <a:rPr lang="en-US" sz="1600" b="1" dirty="0" smtClean="0">
                  <a:solidFill>
                    <a:srgbClr val="000000"/>
                  </a:solidFill>
                </a:rPr>
                <a:t>10/12/18 </a:t>
              </a:r>
              <a:r>
                <a:rPr lang="en-US" sz="1600" b="1" dirty="0">
                  <a:solidFill>
                    <a:srgbClr val="000000"/>
                  </a:solidFill>
                </a:rPr>
                <a:t>- Letter to DCs &amp; DHOs by Principal </a:t>
              </a:r>
              <a:r>
                <a:rPr lang="en-US" sz="1600" b="1" dirty="0" smtClean="0">
                  <a:solidFill>
                    <a:srgbClr val="000000"/>
                  </a:solidFill>
                </a:rPr>
                <a:t>Secretary</a:t>
              </a:r>
              <a:endParaRPr lang="en-GB" sz="1600" b="1" dirty="0">
                <a:solidFill>
                  <a:srgbClr val="000000"/>
                </a:solidFill>
              </a:endParaRPr>
            </a:p>
          </p:txBody>
        </p:sp>
        <p:sp>
          <p:nvSpPr>
            <p:cNvPr id="12" name="Freeform 11"/>
            <p:cNvSpPr/>
            <p:nvPr/>
          </p:nvSpPr>
          <p:spPr>
            <a:xfrm>
              <a:off x="258880" y="1700275"/>
              <a:ext cx="649226" cy="393695"/>
            </a:xfrm>
            <a:custGeom>
              <a:avLst/>
              <a:gdLst>
                <a:gd name="connsiteX0" fmla="*/ 0 w 394591"/>
                <a:gd name="connsiteY0" fmla="*/ 0 h 648838"/>
                <a:gd name="connsiteX1" fmla="*/ 197296 w 394591"/>
                <a:gd name="connsiteY1" fmla="*/ 0 h 648838"/>
                <a:gd name="connsiteX2" fmla="*/ 394591 w 394591"/>
                <a:gd name="connsiteY2" fmla="*/ 324419 h 648838"/>
                <a:gd name="connsiteX3" fmla="*/ 197296 w 394591"/>
                <a:gd name="connsiteY3" fmla="*/ 648838 h 648838"/>
                <a:gd name="connsiteX4" fmla="*/ 0 w 394591"/>
                <a:gd name="connsiteY4" fmla="*/ 648838 h 648838"/>
                <a:gd name="connsiteX5" fmla="*/ 197296 w 394591"/>
                <a:gd name="connsiteY5" fmla="*/ 324419 h 648838"/>
                <a:gd name="connsiteX6" fmla="*/ 0 w 394591"/>
                <a:gd name="connsiteY6" fmla="*/ 0 h 648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4591" h="648838">
                  <a:moveTo>
                    <a:pt x="394591" y="1"/>
                  </a:moveTo>
                  <a:lnTo>
                    <a:pt x="394591" y="324420"/>
                  </a:lnTo>
                  <a:lnTo>
                    <a:pt x="197296" y="648837"/>
                  </a:lnTo>
                  <a:lnTo>
                    <a:pt x="0" y="324420"/>
                  </a:lnTo>
                  <a:lnTo>
                    <a:pt x="0" y="1"/>
                  </a:lnTo>
                  <a:lnTo>
                    <a:pt x="197296" y="324420"/>
                  </a:lnTo>
                  <a:lnTo>
                    <a:pt x="394591" y="1"/>
                  </a:lnTo>
                  <a:close/>
                </a:path>
              </a:pathLst>
            </a:custGeom>
            <a:solidFill>
              <a:srgbClr val="69BFFF"/>
            </a:solidFill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0161" tIns="10160" rIns="10160" bIns="10161" spcCol="1270" anchor="ctr"/>
            <a:lstStyle/>
            <a:p>
              <a:pPr algn="ctr" defTabSz="7112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GB" sz="1600" b="1" dirty="0">
                <a:solidFill>
                  <a:srgbClr val="FFFFFF"/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13" name="Freeform 12"/>
            <p:cNvSpPr/>
            <p:nvPr/>
          </p:nvSpPr>
          <p:spPr>
            <a:xfrm>
              <a:off x="974774" y="1646301"/>
              <a:ext cx="7917706" cy="261934"/>
            </a:xfrm>
            <a:custGeom>
              <a:avLst/>
              <a:gdLst>
                <a:gd name="connsiteX0" fmla="*/ 43599 w 261586"/>
                <a:gd name="connsiteY0" fmla="*/ 0 h 7917016"/>
                <a:gd name="connsiteX1" fmla="*/ 217987 w 261586"/>
                <a:gd name="connsiteY1" fmla="*/ 0 h 7917016"/>
                <a:gd name="connsiteX2" fmla="*/ 261586 w 261586"/>
                <a:gd name="connsiteY2" fmla="*/ 43599 h 7917016"/>
                <a:gd name="connsiteX3" fmla="*/ 261586 w 261586"/>
                <a:gd name="connsiteY3" fmla="*/ 7917016 h 7917016"/>
                <a:gd name="connsiteX4" fmla="*/ 261586 w 261586"/>
                <a:gd name="connsiteY4" fmla="*/ 7917016 h 7917016"/>
                <a:gd name="connsiteX5" fmla="*/ 0 w 261586"/>
                <a:gd name="connsiteY5" fmla="*/ 7917016 h 7917016"/>
                <a:gd name="connsiteX6" fmla="*/ 0 w 261586"/>
                <a:gd name="connsiteY6" fmla="*/ 7917016 h 7917016"/>
                <a:gd name="connsiteX7" fmla="*/ 0 w 261586"/>
                <a:gd name="connsiteY7" fmla="*/ 43599 h 7917016"/>
                <a:gd name="connsiteX8" fmla="*/ 43599 w 261586"/>
                <a:gd name="connsiteY8" fmla="*/ 0 h 7917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586" h="7917016">
                  <a:moveTo>
                    <a:pt x="261586" y="1319553"/>
                  </a:moveTo>
                  <a:lnTo>
                    <a:pt x="261586" y="6597463"/>
                  </a:lnTo>
                  <a:cubicBezTo>
                    <a:pt x="261586" y="7326222"/>
                    <a:pt x="260941" y="7917001"/>
                    <a:pt x="260145" y="7917001"/>
                  </a:cubicBezTo>
                  <a:lnTo>
                    <a:pt x="0" y="7917001"/>
                  </a:lnTo>
                  <a:lnTo>
                    <a:pt x="0" y="7917001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260145" y="15"/>
                  </a:lnTo>
                  <a:cubicBezTo>
                    <a:pt x="260941" y="15"/>
                    <a:pt x="261586" y="590794"/>
                    <a:pt x="261586" y="1319553"/>
                  </a:cubicBezTo>
                  <a:close/>
                </a:path>
              </a:pathLst>
            </a:custGeom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13792" tIns="22930" rIns="22930" bIns="22930" anchor="ctr"/>
            <a:lstStyle/>
            <a:p>
              <a:pPr marL="171450" lvl="1" indent="-171450" defTabSz="711200">
                <a:lnSpc>
                  <a:spcPct val="90000"/>
                </a:lnSpc>
                <a:spcAft>
                  <a:spcPct val="15000"/>
                </a:spcAft>
                <a:buFontTx/>
                <a:buChar char="•"/>
                <a:defRPr/>
              </a:pPr>
              <a:r>
                <a:rPr lang="en-US" sz="1600" b="1" dirty="0" smtClean="0">
                  <a:solidFill>
                    <a:srgbClr val="000000"/>
                  </a:solidFill>
                </a:rPr>
                <a:t>&lt; 15/12/18 </a:t>
              </a:r>
              <a:r>
                <a:rPr lang="en-US" sz="1600" b="1" dirty="0">
                  <a:solidFill>
                    <a:srgbClr val="000000"/>
                  </a:solidFill>
                </a:rPr>
                <a:t>– Procurement process of Marker pens &amp; </a:t>
              </a:r>
              <a:r>
                <a:rPr lang="en-US" sz="1600" b="1" dirty="0" smtClean="0">
                  <a:solidFill>
                    <a:srgbClr val="000000"/>
                  </a:solidFill>
                </a:rPr>
                <a:t>logistics </a:t>
              </a:r>
              <a:r>
                <a:rPr lang="en-US" sz="1600" b="1" dirty="0">
                  <a:solidFill>
                    <a:srgbClr val="000000"/>
                  </a:solidFill>
                </a:rPr>
                <a:t>to begin</a:t>
              </a:r>
              <a:endParaRPr lang="en-GB" sz="1600" b="1" dirty="0">
                <a:solidFill>
                  <a:srgbClr val="000000"/>
                </a:solidFill>
              </a:endParaRPr>
            </a:p>
          </p:txBody>
        </p:sp>
        <p:sp>
          <p:nvSpPr>
            <p:cNvPr id="14" name="Freeform 13"/>
            <p:cNvSpPr/>
            <p:nvPr/>
          </p:nvSpPr>
          <p:spPr>
            <a:xfrm>
              <a:off x="258880" y="2065395"/>
              <a:ext cx="649226" cy="395282"/>
            </a:xfrm>
            <a:custGeom>
              <a:avLst/>
              <a:gdLst>
                <a:gd name="connsiteX0" fmla="*/ 0 w 394591"/>
                <a:gd name="connsiteY0" fmla="*/ 0 h 648838"/>
                <a:gd name="connsiteX1" fmla="*/ 197296 w 394591"/>
                <a:gd name="connsiteY1" fmla="*/ 0 h 648838"/>
                <a:gd name="connsiteX2" fmla="*/ 394591 w 394591"/>
                <a:gd name="connsiteY2" fmla="*/ 324419 h 648838"/>
                <a:gd name="connsiteX3" fmla="*/ 197296 w 394591"/>
                <a:gd name="connsiteY3" fmla="*/ 648838 h 648838"/>
                <a:gd name="connsiteX4" fmla="*/ 0 w 394591"/>
                <a:gd name="connsiteY4" fmla="*/ 648838 h 648838"/>
                <a:gd name="connsiteX5" fmla="*/ 197296 w 394591"/>
                <a:gd name="connsiteY5" fmla="*/ 324419 h 648838"/>
                <a:gd name="connsiteX6" fmla="*/ 0 w 394591"/>
                <a:gd name="connsiteY6" fmla="*/ 0 h 648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4591" h="648838">
                  <a:moveTo>
                    <a:pt x="394591" y="1"/>
                  </a:moveTo>
                  <a:lnTo>
                    <a:pt x="394591" y="324420"/>
                  </a:lnTo>
                  <a:lnTo>
                    <a:pt x="197296" y="648837"/>
                  </a:lnTo>
                  <a:lnTo>
                    <a:pt x="0" y="324420"/>
                  </a:lnTo>
                  <a:lnTo>
                    <a:pt x="0" y="1"/>
                  </a:lnTo>
                  <a:lnTo>
                    <a:pt x="197296" y="324420"/>
                  </a:lnTo>
                  <a:lnTo>
                    <a:pt x="394591" y="1"/>
                  </a:lnTo>
                  <a:close/>
                </a:path>
              </a:pathLst>
            </a:custGeom>
            <a:solidFill>
              <a:srgbClr val="69BFFF"/>
            </a:solidFill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0161" tIns="10160" rIns="10160" bIns="10161" spcCol="1270" anchor="ctr"/>
            <a:lstStyle/>
            <a:p>
              <a:pPr algn="ctr" defTabSz="7112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GB" sz="1600" b="1" dirty="0">
                <a:solidFill>
                  <a:srgbClr val="FFFFFF"/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15" name="Freeform 14"/>
            <p:cNvSpPr/>
            <p:nvPr/>
          </p:nvSpPr>
          <p:spPr>
            <a:xfrm>
              <a:off x="974774" y="2376616"/>
              <a:ext cx="7917706" cy="260347"/>
            </a:xfrm>
            <a:custGeom>
              <a:avLst/>
              <a:gdLst>
                <a:gd name="connsiteX0" fmla="*/ 43599 w 261586"/>
                <a:gd name="connsiteY0" fmla="*/ 0 h 7917016"/>
                <a:gd name="connsiteX1" fmla="*/ 217987 w 261586"/>
                <a:gd name="connsiteY1" fmla="*/ 0 h 7917016"/>
                <a:gd name="connsiteX2" fmla="*/ 261586 w 261586"/>
                <a:gd name="connsiteY2" fmla="*/ 43599 h 7917016"/>
                <a:gd name="connsiteX3" fmla="*/ 261586 w 261586"/>
                <a:gd name="connsiteY3" fmla="*/ 7917016 h 7917016"/>
                <a:gd name="connsiteX4" fmla="*/ 261586 w 261586"/>
                <a:gd name="connsiteY4" fmla="*/ 7917016 h 7917016"/>
                <a:gd name="connsiteX5" fmla="*/ 0 w 261586"/>
                <a:gd name="connsiteY5" fmla="*/ 7917016 h 7917016"/>
                <a:gd name="connsiteX6" fmla="*/ 0 w 261586"/>
                <a:gd name="connsiteY6" fmla="*/ 7917016 h 7917016"/>
                <a:gd name="connsiteX7" fmla="*/ 0 w 261586"/>
                <a:gd name="connsiteY7" fmla="*/ 43599 h 7917016"/>
                <a:gd name="connsiteX8" fmla="*/ 43599 w 261586"/>
                <a:gd name="connsiteY8" fmla="*/ 0 h 7917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586" h="7917016">
                  <a:moveTo>
                    <a:pt x="261586" y="1319553"/>
                  </a:moveTo>
                  <a:lnTo>
                    <a:pt x="261586" y="6597463"/>
                  </a:lnTo>
                  <a:cubicBezTo>
                    <a:pt x="261586" y="7326222"/>
                    <a:pt x="260941" y="7917001"/>
                    <a:pt x="260145" y="7917001"/>
                  </a:cubicBezTo>
                  <a:lnTo>
                    <a:pt x="0" y="7917001"/>
                  </a:lnTo>
                  <a:lnTo>
                    <a:pt x="0" y="7917001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260145" y="15"/>
                  </a:lnTo>
                  <a:cubicBezTo>
                    <a:pt x="260941" y="15"/>
                    <a:pt x="261586" y="590794"/>
                    <a:pt x="261586" y="1319553"/>
                  </a:cubicBezTo>
                  <a:close/>
                </a:path>
              </a:pathLst>
            </a:custGeom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13792" tIns="22930" rIns="22930" bIns="22930" spcCol="1270" anchor="ctr"/>
            <a:lstStyle/>
            <a:p>
              <a:pPr marL="171450" lvl="1" indent="-171450" defTabSz="71120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r>
                <a:rPr lang="en-US" altLang="en-US" sz="1600" b="1" dirty="0" smtClean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cs typeface="Calibri" panose="020F0502020204030204" pitchFamily="34" charset="0"/>
                </a:rPr>
                <a:t>&lt; 11/01/19 </a:t>
              </a:r>
              <a:r>
                <a:rPr lang="en-US" altLang="en-US" sz="1600" b="1" dirty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cs typeface="Calibri" panose="020F0502020204030204" pitchFamily="34" charset="0"/>
                </a:rPr>
                <a:t>- Micro-plans Submission to State</a:t>
              </a:r>
              <a:endParaRPr lang="en-GB" sz="1600" b="1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16" name="Freeform 15"/>
            <p:cNvSpPr/>
            <p:nvPr/>
          </p:nvSpPr>
          <p:spPr>
            <a:xfrm>
              <a:off x="258880" y="2432103"/>
              <a:ext cx="649226" cy="393695"/>
            </a:xfrm>
            <a:custGeom>
              <a:avLst/>
              <a:gdLst>
                <a:gd name="connsiteX0" fmla="*/ 0 w 394591"/>
                <a:gd name="connsiteY0" fmla="*/ 0 h 648838"/>
                <a:gd name="connsiteX1" fmla="*/ 197296 w 394591"/>
                <a:gd name="connsiteY1" fmla="*/ 0 h 648838"/>
                <a:gd name="connsiteX2" fmla="*/ 394591 w 394591"/>
                <a:gd name="connsiteY2" fmla="*/ 324419 h 648838"/>
                <a:gd name="connsiteX3" fmla="*/ 197296 w 394591"/>
                <a:gd name="connsiteY3" fmla="*/ 648838 h 648838"/>
                <a:gd name="connsiteX4" fmla="*/ 0 w 394591"/>
                <a:gd name="connsiteY4" fmla="*/ 648838 h 648838"/>
                <a:gd name="connsiteX5" fmla="*/ 197296 w 394591"/>
                <a:gd name="connsiteY5" fmla="*/ 324419 h 648838"/>
                <a:gd name="connsiteX6" fmla="*/ 0 w 394591"/>
                <a:gd name="connsiteY6" fmla="*/ 0 h 648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4591" h="648838">
                  <a:moveTo>
                    <a:pt x="394591" y="1"/>
                  </a:moveTo>
                  <a:lnTo>
                    <a:pt x="394591" y="324420"/>
                  </a:lnTo>
                  <a:lnTo>
                    <a:pt x="197296" y="648837"/>
                  </a:lnTo>
                  <a:lnTo>
                    <a:pt x="0" y="324420"/>
                  </a:lnTo>
                  <a:lnTo>
                    <a:pt x="0" y="1"/>
                  </a:lnTo>
                  <a:lnTo>
                    <a:pt x="197296" y="324420"/>
                  </a:lnTo>
                  <a:lnTo>
                    <a:pt x="394591" y="1"/>
                  </a:lnTo>
                  <a:close/>
                </a:path>
              </a:pathLst>
            </a:custGeom>
            <a:solidFill>
              <a:srgbClr val="69BFFF"/>
            </a:solidFill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0161" tIns="10160" rIns="10160" bIns="10161" spcCol="1270" anchor="ctr"/>
            <a:lstStyle/>
            <a:p>
              <a:pPr algn="ctr" defTabSz="7112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GB" sz="1600" b="1" dirty="0">
                <a:solidFill>
                  <a:srgbClr val="FFFFFF"/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17" name="Freeform 16"/>
            <p:cNvSpPr/>
            <p:nvPr/>
          </p:nvSpPr>
          <p:spPr>
            <a:xfrm>
              <a:off x="974774" y="3095099"/>
              <a:ext cx="7917706" cy="261935"/>
            </a:xfrm>
            <a:custGeom>
              <a:avLst/>
              <a:gdLst>
                <a:gd name="connsiteX0" fmla="*/ 43599 w 261586"/>
                <a:gd name="connsiteY0" fmla="*/ 0 h 7917016"/>
                <a:gd name="connsiteX1" fmla="*/ 217987 w 261586"/>
                <a:gd name="connsiteY1" fmla="*/ 0 h 7917016"/>
                <a:gd name="connsiteX2" fmla="*/ 261586 w 261586"/>
                <a:gd name="connsiteY2" fmla="*/ 43599 h 7917016"/>
                <a:gd name="connsiteX3" fmla="*/ 261586 w 261586"/>
                <a:gd name="connsiteY3" fmla="*/ 7917016 h 7917016"/>
                <a:gd name="connsiteX4" fmla="*/ 261586 w 261586"/>
                <a:gd name="connsiteY4" fmla="*/ 7917016 h 7917016"/>
                <a:gd name="connsiteX5" fmla="*/ 0 w 261586"/>
                <a:gd name="connsiteY5" fmla="*/ 7917016 h 7917016"/>
                <a:gd name="connsiteX6" fmla="*/ 0 w 261586"/>
                <a:gd name="connsiteY6" fmla="*/ 7917016 h 7917016"/>
                <a:gd name="connsiteX7" fmla="*/ 0 w 261586"/>
                <a:gd name="connsiteY7" fmla="*/ 43599 h 7917016"/>
                <a:gd name="connsiteX8" fmla="*/ 43599 w 261586"/>
                <a:gd name="connsiteY8" fmla="*/ 0 h 7917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586" h="7917016">
                  <a:moveTo>
                    <a:pt x="261586" y="1319553"/>
                  </a:moveTo>
                  <a:lnTo>
                    <a:pt x="261586" y="6597463"/>
                  </a:lnTo>
                  <a:cubicBezTo>
                    <a:pt x="261586" y="7326222"/>
                    <a:pt x="260941" y="7917001"/>
                    <a:pt x="260145" y="7917001"/>
                  </a:cubicBezTo>
                  <a:lnTo>
                    <a:pt x="0" y="7917001"/>
                  </a:lnTo>
                  <a:lnTo>
                    <a:pt x="0" y="7917001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260145" y="15"/>
                  </a:lnTo>
                  <a:cubicBezTo>
                    <a:pt x="260941" y="15"/>
                    <a:pt x="261586" y="590794"/>
                    <a:pt x="261586" y="1319553"/>
                  </a:cubicBezTo>
                  <a:close/>
                </a:path>
              </a:pathLst>
            </a:custGeom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13792" tIns="22930" rIns="22930" bIns="22930" anchor="ctr"/>
            <a:lstStyle/>
            <a:p>
              <a:pPr marL="171450" lvl="1" indent="-171450" defTabSz="711200">
                <a:lnSpc>
                  <a:spcPct val="90000"/>
                </a:lnSpc>
                <a:spcAft>
                  <a:spcPct val="15000"/>
                </a:spcAft>
                <a:buFontTx/>
                <a:buChar char="•"/>
                <a:defRPr/>
              </a:pPr>
              <a:r>
                <a:rPr lang="en-US" altLang="en-US" sz="1600" b="1" dirty="0" smtClean="0">
                  <a:solidFill>
                    <a:srgbClr val="000000"/>
                  </a:solidFill>
                </a:rPr>
                <a:t>&lt; 20/01/19  </a:t>
              </a:r>
              <a:r>
                <a:rPr lang="en-US" altLang="en-US" sz="1600" b="1" dirty="0">
                  <a:solidFill>
                    <a:srgbClr val="000000"/>
                  </a:solidFill>
                </a:rPr>
                <a:t>- State level NID Micro-plan review Workshop</a:t>
              </a:r>
              <a:endParaRPr lang="en-GB" sz="1600" b="1" dirty="0">
                <a:solidFill>
                  <a:srgbClr val="000000"/>
                </a:solidFill>
              </a:endParaRPr>
            </a:p>
          </p:txBody>
        </p:sp>
        <p:sp>
          <p:nvSpPr>
            <p:cNvPr id="18" name="Freeform 17"/>
            <p:cNvSpPr/>
            <p:nvPr/>
          </p:nvSpPr>
          <p:spPr>
            <a:xfrm>
              <a:off x="258880" y="2798812"/>
              <a:ext cx="649226" cy="393695"/>
            </a:xfrm>
            <a:custGeom>
              <a:avLst/>
              <a:gdLst>
                <a:gd name="connsiteX0" fmla="*/ 0 w 394591"/>
                <a:gd name="connsiteY0" fmla="*/ 0 h 648838"/>
                <a:gd name="connsiteX1" fmla="*/ 197296 w 394591"/>
                <a:gd name="connsiteY1" fmla="*/ 0 h 648838"/>
                <a:gd name="connsiteX2" fmla="*/ 394591 w 394591"/>
                <a:gd name="connsiteY2" fmla="*/ 324419 h 648838"/>
                <a:gd name="connsiteX3" fmla="*/ 197296 w 394591"/>
                <a:gd name="connsiteY3" fmla="*/ 648838 h 648838"/>
                <a:gd name="connsiteX4" fmla="*/ 0 w 394591"/>
                <a:gd name="connsiteY4" fmla="*/ 648838 h 648838"/>
                <a:gd name="connsiteX5" fmla="*/ 197296 w 394591"/>
                <a:gd name="connsiteY5" fmla="*/ 324419 h 648838"/>
                <a:gd name="connsiteX6" fmla="*/ 0 w 394591"/>
                <a:gd name="connsiteY6" fmla="*/ 0 h 648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4591" h="648838">
                  <a:moveTo>
                    <a:pt x="394591" y="1"/>
                  </a:moveTo>
                  <a:lnTo>
                    <a:pt x="394591" y="324420"/>
                  </a:lnTo>
                  <a:lnTo>
                    <a:pt x="197296" y="648837"/>
                  </a:lnTo>
                  <a:lnTo>
                    <a:pt x="0" y="324420"/>
                  </a:lnTo>
                  <a:lnTo>
                    <a:pt x="0" y="1"/>
                  </a:lnTo>
                  <a:lnTo>
                    <a:pt x="197296" y="324420"/>
                  </a:lnTo>
                  <a:lnTo>
                    <a:pt x="394591" y="1"/>
                  </a:lnTo>
                  <a:close/>
                </a:path>
              </a:pathLst>
            </a:custGeom>
            <a:solidFill>
              <a:srgbClr val="69BFFF"/>
            </a:solidFill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0161" tIns="10160" rIns="10160" bIns="10161" spcCol="1270" anchor="ctr"/>
            <a:lstStyle/>
            <a:p>
              <a:pPr algn="ctr" defTabSz="7112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GB" sz="1600" b="1" dirty="0">
                <a:solidFill>
                  <a:srgbClr val="FFFFFF"/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19" name="Freeform 18"/>
            <p:cNvSpPr/>
            <p:nvPr/>
          </p:nvSpPr>
          <p:spPr>
            <a:xfrm>
              <a:off x="971649" y="2735064"/>
              <a:ext cx="7917706" cy="261934"/>
            </a:xfrm>
            <a:custGeom>
              <a:avLst/>
              <a:gdLst>
                <a:gd name="connsiteX0" fmla="*/ 43599 w 261586"/>
                <a:gd name="connsiteY0" fmla="*/ 0 h 7917016"/>
                <a:gd name="connsiteX1" fmla="*/ 217987 w 261586"/>
                <a:gd name="connsiteY1" fmla="*/ 0 h 7917016"/>
                <a:gd name="connsiteX2" fmla="*/ 261586 w 261586"/>
                <a:gd name="connsiteY2" fmla="*/ 43599 h 7917016"/>
                <a:gd name="connsiteX3" fmla="*/ 261586 w 261586"/>
                <a:gd name="connsiteY3" fmla="*/ 7917016 h 7917016"/>
                <a:gd name="connsiteX4" fmla="*/ 261586 w 261586"/>
                <a:gd name="connsiteY4" fmla="*/ 7917016 h 7917016"/>
                <a:gd name="connsiteX5" fmla="*/ 0 w 261586"/>
                <a:gd name="connsiteY5" fmla="*/ 7917016 h 7917016"/>
                <a:gd name="connsiteX6" fmla="*/ 0 w 261586"/>
                <a:gd name="connsiteY6" fmla="*/ 7917016 h 7917016"/>
                <a:gd name="connsiteX7" fmla="*/ 0 w 261586"/>
                <a:gd name="connsiteY7" fmla="*/ 43599 h 7917016"/>
                <a:gd name="connsiteX8" fmla="*/ 43599 w 261586"/>
                <a:gd name="connsiteY8" fmla="*/ 0 h 7917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586" h="7917016">
                  <a:moveTo>
                    <a:pt x="261586" y="1319553"/>
                  </a:moveTo>
                  <a:lnTo>
                    <a:pt x="261586" y="6597463"/>
                  </a:lnTo>
                  <a:cubicBezTo>
                    <a:pt x="261586" y="7326222"/>
                    <a:pt x="260941" y="7917001"/>
                    <a:pt x="260145" y="7917001"/>
                  </a:cubicBezTo>
                  <a:lnTo>
                    <a:pt x="0" y="7917001"/>
                  </a:lnTo>
                  <a:lnTo>
                    <a:pt x="0" y="7917001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260145" y="15"/>
                  </a:lnTo>
                  <a:cubicBezTo>
                    <a:pt x="260941" y="15"/>
                    <a:pt x="261586" y="590794"/>
                    <a:pt x="261586" y="1319553"/>
                  </a:cubicBezTo>
                  <a:close/>
                </a:path>
              </a:pathLst>
            </a:custGeom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13792" tIns="22930" rIns="22930" bIns="22930" spcCol="1270" anchor="ctr"/>
            <a:lstStyle/>
            <a:p>
              <a:pPr marL="171450" lvl="1" indent="-171450" defTabSz="71120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r>
                <a:rPr lang="en-US" sz="1600" b="1" dirty="0" smtClean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cs typeface="Calibri" panose="020F0502020204030204" pitchFamily="34" charset="0"/>
                </a:rPr>
                <a:t>&lt; 15/01/19 – STF meeting under </a:t>
              </a:r>
              <a:r>
                <a:rPr lang="en-US" sz="1600" b="1" dirty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cs typeface="Calibri" panose="020F0502020204030204" pitchFamily="34" charset="0"/>
                </a:rPr>
                <a:t>Principal Secretary</a:t>
              </a:r>
              <a:endParaRPr lang="en-GB" sz="1600" b="1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20" name="Freeform 19"/>
            <p:cNvSpPr/>
            <p:nvPr/>
          </p:nvSpPr>
          <p:spPr>
            <a:xfrm>
              <a:off x="258880" y="3163932"/>
              <a:ext cx="649226" cy="395282"/>
            </a:xfrm>
            <a:custGeom>
              <a:avLst/>
              <a:gdLst>
                <a:gd name="connsiteX0" fmla="*/ 0 w 394591"/>
                <a:gd name="connsiteY0" fmla="*/ 0 h 648838"/>
                <a:gd name="connsiteX1" fmla="*/ 197296 w 394591"/>
                <a:gd name="connsiteY1" fmla="*/ 0 h 648838"/>
                <a:gd name="connsiteX2" fmla="*/ 394591 w 394591"/>
                <a:gd name="connsiteY2" fmla="*/ 324419 h 648838"/>
                <a:gd name="connsiteX3" fmla="*/ 197296 w 394591"/>
                <a:gd name="connsiteY3" fmla="*/ 648838 h 648838"/>
                <a:gd name="connsiteX4" fmla="*/ 0 w 394591"/>
                <a:gd name="connsiteY4" fmla="*/ 648838 h 648838"/>
                <a:gd name="connsiteX5" fmla="*/ 197296 w 394591"/>
                <a:gd name="connsiteY5" fmla="*/ 324419 h 648838"/>
                <a:gd name="connsiteX6" fmla="*/ 0 w 394591"/>
                <a:gd name="connsiteY6" fmla="*/ 0 h 648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4591" h="648838">
                  <a:moveTo>
                    <a:pt x="394591" y="1"/>
                  </a:moveTo>
                  <a:lnTo>
                    <a:pt x="394591" y="324420"/>
                  </a:lnTo>
                  <a:lnTo>
                    <a:pt x="197296" y="648837"/>
                  </a:lnTo>
                  <a:lnTo>
                    <a:pt x="0" y="324420"/>
                  </a:lnTo>
                  <a:lnTo>
                    <a:pt x="0" y="1"/>
                  </a:lnTo>
                  <a:lnTo>
                    <a:pt x="197296" y="324420"/>
                  </a:lnTo>
                  <a:lnTo>
                    <a:pt x="394591" y="1"/>
                  </a:lnTo>
                  <a:close/>
                </a:path>
              </a:pathLst>
            </a:custGeom>
            <a:solidFill>
              <a:srgbClr val="69BFFF"/>
            </a:solidFill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0161" tIns="10160" rIns="10160" bIns="10161" spcCol="1270" anchor="ctr"/>
            <a:lstStyle/>
            <a:p>
              <a:pPr algn="ctr" defTabSz="7112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GB" sz="1600" b="1" dirty="0">
                <a:solidFill>
                  <a:srgbClr val="FFFFFF"/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21" name="Freeform 20"/>
            <p:cNvSpPr/>
            <p:nvPr/>
          </p:nvSpPr>
          <p:spPr>
            <a:xfrm>
              <a:off x="971649" y="1988898"/>
              <a:ext cx="7917706" cy="261934"/>
            </a:xfrm>
            <a:custGeom>
              <a:avLst/>
              <a:gdLst>
                <a:gd name="connsiteX0" fmla="*/ 43599 w 261586"/>
                <a:gd name="connsiteY0" fmla="*/ 0 h 7917016"/>
                <a:gd name="connsiteX1" fmla="*/ 217987 w 261586"/>
                <a:gd name="connsiteY1" fmla="*/ 0 h 7917016"/>
                <a:gd name="connsiteX2" fmla="*/ 261586 w 261586"/>
                <a:gd name="connsiteY2" fmla="*/ 43599 h 7917016"/>
                <a:gd name="connsiteX3" fmla="*/ 261586 w 261586"/>
                <a:gd name="connsiteY3" fmla="*/ 7917016 h 7917016"/>
                <a:gd name="connsiteX4" fmla="*/ 261586 w 261586"/>
                <a:gd name="connsiteY4" fmla="*/ 7917016 h 7917016"/>
                <a:gd name="connsiteX5" fmla="*/ 0 w 261586"/>
                <a:gd name="connsiteY5" fmla="*/ 7917016 h 7917016"/>
                <a:gd name="connsiteX6" fmla="*/ 0 w 261586"/>
                <a:gd name="connsiteY6" fmla="*/ 7917016 h 7917016"/>
                <a:gd name="connsiteX7" fmla="*/ 0 w 261586"/>
                <a:gd name="connsiteY7" fmla="*/ 43599 h 7917016"/>
                <a:gd name="connsiteX8" fmla="*/ 43599 w 261586"/>
                <a:gd name="connsiteY8" fmla="*/ 0 h 7917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586" h="7917016">
                  <a:moveTo>
                    <a:pt x="261586" y="1319553"/>
                  </a:moveTo>
                  <a:lnTo>
                    <a:pt x="261586" y="6597463"/>
                  </a:lnTo>
                  <a:cubicBezTo>
                    <a:pt x="261586" y="7326222"/>
                    <a:pt x="260941" y="7917001"/>
                    <a:pt x="260145" y="7917001"/>
                  </a:cubicBezTo>
                  <a:lnTo>
                    <a:pt x="0" y="7917001"/>
                  </a:lnTo>
                  <a:lnTo>
                    <a:pt x="0" y="7917001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260145" y="15"/>
                  </a:lnTo>
                  <a:cubicBezTo>
                    <a:pt x="260941" y="15"/>
                    <a:pt x="261586" y="590794"/>
                    <a:pt x="261586" y="1319553"/>
                  </a:cubicBezTo>
                  <a:close/>
                </a:path>
              </a:pathLst>
            </a:custGeom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13792" tIns="22930" rIns="22930" bIns="22930" spcCol="1270" anchor="ctr"/>
            <a:lstStyle/>
            <a:p>
              <a:pPr marL="171450" lvl="1" indent="-171450" defTabSz="71120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r>
                <a:rPr lang="en-US" sz="1600" b="1" dirty="0" smtClean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cs typeface="Calibri" panose="020F0502020204030204" pitchFamily="34" charset="0"/>
                </a:rPr>
                <a:t>&lt; 10/01/19- </a:t>
              </a:r>
              <a:r>
                <a:rPr lang="en-US" sz="1600" b="1" dirty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cs typeface="Calibri" panose="020F0502020204030204" pitchFamily="34" charset="0"/>
                </a:rPr>
                <a:t>Budget allocation</a:t>
              </a:r>
              <a:endParaRPr lang="en-GB" sz="1600" b="1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22" name="Freeform 21"/>
            <p:cNvSpPr/>
            <p:nvPr/>
          </p:nvSpPr>
          <p:spPr>
            <a:xfrm>
              <a:off x="258880" y="3530640"/>
              <a:ext cx="649226" cy="393695"/>
            </a:xfrm>
            <a:custGeom>
              <a:avLst/>
              <a:gdLst>
                <a:gd name="connsiteX0" fmla="*/ 0 w 394591"/>
                <a:gd name="connsiteY0" fmla="*/ 0 h 648838"/>
                <a:gd name="connsiteX1" fmla="*/ 197296 w 394591"/>
                <a:gd name="connsiteY1" fmla="*/ 0 h 648838"/>
                <a:gd name="connsiteX2" fmla="*/ 394591 w 394591"/>
                <a:gd name="connsiteY2" fmla="*/ 324419 h 648838"/>
                <a:gd name="connsiteX3" fmla="*/ 197296 w 394591"/>
                <a:gd name="connsiteY3" fmla="*/ 648838 h 648838"/>
                <a:gd name="connsiteX4" fmla="*/ 0 w 394591"/>
                <a:gd name="connsiteY4" fmla="*/ 648838 h 648838"/>
                <a:gd name="connsiteX5" fmla="*/ 197296 w 394591"/>
                <a:gd name="connsiteY5" fmla="*/ 324419 h 648838"/>
                <a:gd name="connsiteX6" fmla="*/ 0 w 394591"/>
                <a:gd name="connsiteY6" fmla="*/ 0 h 648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4591" h="648838">
                  <a:moveTo>
                    <a:pt x="394591" y="1"/>
                  </a:moveTo>
                  <a:lnTo>
                    <a:pt x="394591" y="324420"/>
                  </a:lnTo>
                  <a:lnTo>
                    <a:pt x="197296" y="648837"/>
                  </a:lnTo>
                  <a:lnTo>
                    <a:pt x="0" y="324420"/>
                  </a:lnTo>
                  <a:lnTo>
                    <a:pt x="0" y="1"/>
                  </a:lnTo>
                  <a:lnTo>
                    <a:pt x="197296" y="324420"/>
                  </a:lnTo>
                  <a:lnTo>
                    <a:pt x="394591" y="1"/>
                  </a:lnTo>
                  <a:close/>
                </a:path>
              </a:pathLst>
            </a:custGeom>
            <a:solidFill>
              <a:srgbClr val="69BFFF"/>
            </a:solidFill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0161" tIns="10160" rIns="10160" bIns="10161" spcCol="1270" anchor="ctr"/>
            <a:lstStyle/>
            <a:p>
              <a:pPr algn="ctr" defTabSz="7112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GB" sz="1600" b="1" dirty="0">
                <a:solidFill>
                  <a:srgbClr val="FFFFFF"/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23" name="Freeform 22"/>
            <p:cNvSpPr/>
            <p:nvPr/>
          </p:nvSpPr>
          <p:spPr>
            <a:xfrm>
              <a:off x="974774" y="3476666"/>
              <a:ext cx="7917706" cy="261935"/>
            </a:xfrm>
            <a:custGeom>
              <a:avLst/>
              <a:gdLst>
                <a:gd name="connsiteX0" fmla="*/ 43599 w 261586"/>
                <a:gd name="connsiteY0" fmla="*/ 0 h 7917016"/>
                <a:gd name="connsiteX1" fmla="*/ 217987 w 261586"/>
                <a:gd name="connsiteY1" fmla="*/ 0 h 7917016"/>
                <a:gd name="connsiteX2" fmla="*/ 261586 w 261586"/>
                <a:gd name="connsiteY2" fmla="*/ 43599 h 7917016"/>
                <a:gd name="connsiteX3" fmla="*/ 261586 w 261586"/>
                <a:gd name="connsiteY3" fmla="*/ 7917016 h 7917016"/>
                <a:gd name="connsiteX4" fmla="*/ 261586 w 261586"/>
                <a:gd name="connsiteY4" fmla="*/ 7917016 h 7917016"/>
                <a:gd name="connsiteX5" fmla="*/ 0 w 261586"/>
                <a:gd name="connsiteY5" fmla="*/ 7917016 h 7917016"/>
                <a:gd name="connsiteX6" fmla="*/ 0 w 261586"/>
                <a:gd name="connsiteY6" fmla="*/ 7917016 h 7917016"/>
                <a:gd name="connsiteX7" fmla="*/ 0 w 261586"/>
                <a:gd name="connsiteY7" fmla="*/ 43599 h 7917016"/>
                <a:gd name="connsiteX8" fmla="*/ 43599 w 261586"/>
                <a:gd name="connsiteY8" fmla="*/ 0 h 7917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586" h="7917016">
                  <a:moveTo>
                    <a:pt x="261586" y="1319553"/>
                  </a:moveTo>
                  <a:lnTo>
                    <a:pt x="261586" y="6597463"/>
                  </a:lnTo>
                  <a:cubicBezTo>
                    <a:pt x="261586" y="7326222"/>
                    <a:pt x="260941" y="7917001"/>
                    <a:pt x="260145" y="7917001"/>
                  </a:cubicBezTo>
                  <a:lnTo>
                    <a:pt x="0" y="7917001"/>
                  </a:lnTo>
                  <a:lnTo>
                    <a:pt x="0" y="7917001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260145" y="15"/>
                  </a:lnTo>
                  <a:cubicBezTo>
                    <a:pt x="260941" y="15"/>
                    <a:pt x="261586" y="590794"/>
                    <a:pt x="261586" y="1319553"/>
                  </a:cubicBezTo>
                  <a:close/>
                </a:path>
              </a:pathLst>
            </a:custGeom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13792" tIns="22930" rIns="22930" bIns="22930" spcCol="1270" anchor="ctr"/>
            <a:lstStyle/>
            <a:p>
              <a:pPr marL="171450" lvl="1" indent="-171450" defTabSz="71120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r>
                <a:rPr lang="en-US" sz="1600" b="1" dirty="0" smtClean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cs typeface="Calibri" panose="020F0502020204030204" pitchFamily="34" charset="0"/>
                </a:rPr>
                <a:t>&lt; 20/01/19 </a:t>
              </a:r>
              <a:r>
                <a:rPr lang="en-US" sz="1600" b="1" dirty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cs typeface="Calibri" panose="020F0502020204030204" pitchFamily="34" charset="0"/>
                </a:rPr>
                <a:t>- State Steering Committee meeting under Chief Secretary</a:t>
              </a:r>
              <a:endParaRPr lang="en-GB" sz="1600" b="1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24" name="Freeform 23"/>
            <p:cNvSpPr/>
            <p:nvPr/>
          </p:nvSpPr>
          <p:spPr>
            <a:xfrm>
              <a:off x="258880" y="3895761"/>
              <a:ext cx="649226" cy="395283"/>
            </a:xfrm>
            <a:custGeom>
              <a:avLst/>
              <a:gdLst>
                <a:gd name="connsiteX0" fmla="*/ 0 w 394591"/>
                <a:gd name="connsiteY0" fmla="*/ 0 h 648838"/>
                <a:gd name="connsiteX1" fmla="*/ 197296 w 394591"/>
                <a:gd name="connsiteY1" fmla="*/ 0 h 648838"/>
                <a:gd name="connsiteX2" fmla="*/ 394591 w 394591"/>
                <a:gd name="connsiteY2" fmla="*/ 324419 h 648838"/>
                <a:gd name="connsiteX3" fmla="*/ 197296 w 394591"/>
                <a:gd name="connsiteY3" fmla="*/ 648838 h 648838"/>
                <a:gd name="connsiteX4" fmla="*/ 0 w 394591"/>
                <a:gd name="connsiteY4" fmla="*/ 648838 h 648838"/>
                <a:gd name="connsiteX5" fmla="*/ 197296 w 394591"/>
                <a:gd name="connsiteY5" fmla="*/ 324419 h 648838"/>
                <a:gd name="connsiteX6" fmla="*/ 0 w 394591"/>
                <a:gd name="connsiteY6" fmla="*/ 0 h 648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4591" h="648838">
                  <a:moveTo>
                    <a:pt x="394591" y="1"/>
                  </a:moveTo>
                  <a:lnTo>
                    <a:pt x="394591" y="324420"/>
                  </a:lnTo>
                  <a:lnTo>
                    <a:pt x="197296" y="648837"/>
                  </a:lnTo>
                  <a:lnTo>
                    <a:pt x="0" y="324420"/>
                  </a:lnTo>
                  <a:lnTo>
                    <a:pt x="0" y="1"/>
                  </a:lnTo>
                  <a:lnTo>
                    <a:pt x="197296" y="324420"/>
                  </a:lnTo>
                  <a:lnTo>
                    <a:pt x="394591" y="1"/>
                  </a:lnTo>
                  <a:close/>
                </a:path>
              </a:pathLst>
            </a:custGeom>
            <a:solidFill>
              <a:srgbClr val="69BFFF"/>
            </a:solidFill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0161" tIns="10160" rIns="10160" bIns="10161" spcCol="1270" anchor="ctr"/>
            <a:lstStyle/>
            <a:p>
              <a:pPr algn="ctr" defTabSz="7112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GB" sz="1600" b="1" dirty="0">
                <a:solidFill>
                  <a:srgbClr val="FFFFFF"/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25" name="Freeform 24"/>
            <p:cNvSpPr/>
            <p:nvPr/>
          </p:nvSpPr>
          <p:spPr>
            <a:xfrm>
              <a:off x="974774" y="3843374"/>
              <a:ext cx="7917706" cy="260347"/>
            </a:xfrm>
            <a:custGeom>
              <a:avLst/>
              <a:gdLst>
                <a:gd name="connsiteX0" fmla="*/ 43599 w 261586"/>
                <a:gd name="connsiteY0" fmla="*/ 0 h 7917016"/>
                <a:gd name="connsiteX1" fmla="*/ 217987 w 261586"/>
                <a:gd name="connsiteY1" fmla="*/ 0 h 7917016"/>
                <a:gd name="connsiteX2" fmla="*/ 261586 w 261586"/>
                <a:gd name="connsiteY2" fmla="*/ 43599 h 7917016"/>
                <a:gd name="connsiteX3" fmla="*/ 261586 w 261586"/>
                <a:gd name="connsiteY3" fmla="*/ 7917016 h 7917016"/>
                <a:gd name="connsiteX4" fmla="*/ 261586 w 261586"/>
                <a:gd name="connsiteY4" fmla="*/ 7917016 h 7917016"/>
                <a:gd name="connsiteX5" fmla="*/ 0 w 261586"/>
                <a:gd name="connsiteY5" fmla="*/ 7917016 h 7917016"/>
                <a:gd name="connsiteX6" fmla="*/ 0 w 261586"/>
                <a:gd name="connsiteY6" fmla="*/ 7917016 h 7917016"/>
                <a:gd name="connsiteX7" fmla="*/ 0 w 261586"/>
                <a:gd name="connsiteY7" fmla="*/ 43599 h 7917016"/>
                <a:gd name="connsiteX8" fmla="*/ 43599 w 261586"/>
                <a:gd name="connsiteY8" fmla="*/ 0 h 7917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586" h="7917016">
                  <a:moveTo>
                    <a:pt x="261586" y="1319553"/>
                  </a:moveTo>
                  <a:lnTo>
                    <a:pt x="261586" y="6597463"/>
                  </a:lnTo>
                  <a:cubicBezTo>
                    <a:pt x="261586" y="7326222"/>
                    <a:pt x="260941" y="7917001"/>
                    <a:pt x="260145" y="7917001"/>
                  </a:cubicBezTo>
                  <a:lnTo>
                    <a:pt x="0" y="7917001"/>
                  </a:lnTo>
                  <a:lnTo>
                    <a:pt x="0" y="7917001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260145" y="15"/>
                  </a:lnTo>
                  <a:cubicBezTo>
                    <a:pt x="260941" y="15"/>
                    <a:pt x="261586" y="590794"/>
                    <a:pt x="261586" y="1319553"/>
                  </a:cubicBezTo>
                  <a:close/>
                </a:path>
              </a:pathLst>
            </a:custGeom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13792" tIns="22930" rIns="22930" bIns="22930" spcCol="1270" anchor="ctr"/>
            <a:lstStyle/>
            <a:p>
              <a:pPr marL="114300" lvl="1" indent="-114300" defTabSz="688975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r>
                <a:rPr lang="en-US" altLang="en-US" sz="1550" b="1" dirty="0" smtClean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cs typeface="Calibri" panose="020F0502020204030204" pitchFamily="34" charset="0"/>
                </a:rPr>
                <a:t>&lt; 20/01/19 </a:t>
              </a:r>
              <a:r>
                <a:rPr lang="en-US" altLang="en-US" sz="1550" b="1" dirty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cs typeface="Calibri" panose="020F0502020204030204" pitchFamily="34" charset="0"/>
                </a:rPr>
                <a:t>- Procurement &amp; distribution of vaccine </a:t>
              </a:r>
              <a:r>
                <a:rPr lang="en-US" altLang="en-US" sz="1550" b="1" dirty="0" smtClean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cs typeface="Calibri" panose="020F0502020204030204" pitchFamily="34" charset="0"/>
                </a:rPr>
                <a:t>&amp; logistics - </a:t>
              </a:r>
              <a:r>
                <a:rPr lang="en-US" altLang="en-US" sz="1550" b="1" dirty="0" err="1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cs typeface="Calibri" panose="020F0502020204030204" pitchFamily="34" charset="0"/>
                </a:rPr>
                <a:t>Dist</a:t>
              </a:r>
              <a:r>
                <a:rPr lang="en-US" altLang="en-US" sz="1550" b="1" dirty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cs typeface="Calibri" panose="020F0502020204030204" pitchFamily="34" charset="0"/>
                </a:rPr>
                <a:t> HQ</a:t>
              </a:r>
              <a:endParaRPr lang="en-GB" sz="1550" b="1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26" name="Freeform 25"/>
            <p:cNvSpPr/>
            <p:nvPr/>
          </p:nvSpPr>
          <p:spPr>
            <a:xfrm>
              <a:off x="258880" y="4262469"/>
              <a:ext cx="649226" cy="393695"/>
            </a:xfrm>
            <a:custGeom>
              <a:avLst/>
              <a:gdLst>
                <a:gd name="connsiteX0" fmla="*/ 0 w 394591"/>
                <a:gd name="connsiteY0" fmla="*/ 0 h 648838"/>
                <a:gd name="connsiteX1" fmla="*/ 197296 w 394591"/>
                <a:gd name="connsiteY1" fmla="*/ 0 h 648838"/>
                <a:gd name="connsiteX2" fmla="*/ 394591 w 394591"/>
                <a:gd name="connsiteY2" fmla="*/ 324419 h 648838"/>
                <a:gd name="connsiteX3" fmla="*/ 197296 w 394591"/>
                <a:gd name="connsiteY3" fmla="*/ 648838 h 648838"/>
                <a:gd name="connsiteX4" fmla="*/ 0 w 394591"/>
                <a:gd name="connsiteY4" fmla="*/ 648838 h 648838"/>
                <a:gd name="connsiteX5" fmla="*/ 197296 w 394591"/>
                <a:gd name="connsiteY5" fmla="*/ 324419 h 648838"/>
                <a:gd name="connsiteX6" fmla="*/ 0 w 394591"/>
                <a:gd name="connsiteY6" fmla="*/ 0 h 648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4591" h="648838">
                  <a:moveTo>
                    <a:pt x="394591" y="1"/>
                  </a:moveTo>
                  <a:lnTo>
                    <a:pt x="394591" y="324420"/>
                  </a:lnTo>
                  <a:lnTo>
                    <a:pt x="197296" y="648837"/>
                  </a:lnTo>
                  <a:lnTo>
                    <a:pt x="0" y="324420"/>
                  </a:lnTo>
                  <a:lnTo>
                    <a:pt x="0" y="1"/>
                  </a:lnTo>
                  <a:lnTo>
                    <a:pt x="197296" y="324420"/>
                  </a:lnTo>
                  <a:lnTo>
                    <a:pt x="394591" y="1"/>
                  </a:lnTo>
                  <a:close/>
                </a:path>
              </a:pathLst>
            </a:custGeom>
            <a:solidFill>
              <a:srgbClr val="69BFFF"/>
            </a:solidFill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0161" tIns="10160" rIns="10160" bIns="10161" spcCol="1270" anchor="ctr"/>
            <a:lstStyle/>
            <a:p>
              <a:pPr algn="ctr" defTabSz="7112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GB" sz="1600" b="1" dirty="0">
                <a:solidFill>
                  <a:srgbClr val="FFFFFF"/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27" name="Freeform 26"/>
            <p:cNvSpPr/>
            <p:nvPr/>
          </p:nvSpPr>
          <p:spPr>
            <a:xfrm>
              <a:off x="974774" y="4208495"/>
              <a:ext cx="7917706" cy="261934"/>
            </a:xfrm>
            <a:custGeom>
              <a:avLst/>
              <a:gdLst>
                <a:gd name="connsiteX0" fmla="*/ 43599 w 261586"/>
                <a:gd name="connsiteY0" fmla="*/ 0 h 7917016"/>
                <a:gd name="connsiteX1" fmla="*/ 217987 w 261586"/>
                <a:gd name="connsiteY1" fmla="*/ 0 h 7917016"/>
                <a:gd name="connsiteX2" fmla="*/ 261586 w 261586"/>
                <a:gd name="connsiteY2" fmla="*/ 43599 h 7917016"/>
                <a:gd name="connsiteX3" fmla="*/ 261586 w 261586"/>
                <a:gd name="connsiteY3" fmla="*/ 7917016 h 7917016"/>
                <a:gd name="connsiteX4" fmla="*/ 261586 w 261586"/>
                <a:gd name="connsiteY4" fmla="*/ 7917016 h 7917016"/>
                <a:gd name="connsiteX5" fmla="*/ 0 w 261586"/>
                <a:gd name="connsiteY5" fmla="*/ 7917016 h 7917016"/>
                <a:gd name="connsiteX6" fmla="*/ 0 w 261586"/>
                <a:gd name="connsiteY6" fmla="*/ 7917016 h 7917016"/>
                <a:gd name="connsiteX7" fmla="*/ 0 w 261586"/>
                <a:gd name="connsiteY7" fmla="*/ 43599 h 7917016"/>
                <a:gd name="connsiteX8" fmla="*/ 43599 w 261586"/>
                <a:gd name="connsiteY8" fmla="*/ 0 h 7917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586" h="7917016">
                  <a:moveTo>
                    <a:pt x="261586" y="1319553"/>
                  </a:moveTo>
                  <a:lnTo>
                    <a:pt x="261586" y="6597463"/>
                  </a:lnTo>
                  <a:cubicBezTo>
                    <a:pt x="261586" y="7326222"/>
                    <a:pt x="260941" y="7917001"/>
                    <a:pt x="260145" y="7917001"/>
                  </a:cubicBezTo>
                  <a:lnTo>
                    <a:pt x="0" y="7917001"/>
                  </a:lnTo>
                  <a:lnTo>
                    <a:pt x="0" y="7917001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260145" y="15"/>
                  </a:lnTo>
                  <a:cubicBezTo>
                    <a:pt x="260941" y="15"/>
                    <a:pt x="261586" y="590794"/>
                    <a:pt x="261586" y="1319553"/>
                  </a:cubicBezTo>
                  <a:close/>
                </a:path>
              </a:pathLst>
            </a:custGeom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13792" tIns="22930" rIns="22930" bIns="22931" anchor="ctr"/>
            <a:lstStyle/>
            <a:p>
              <a:pPr marL="171450" lvl="1" indent="-171450" defTabSz="711200">
                <a:lnSpc>
                  <a:spcPct val="90000"/>
                </a:lnSpc>
                <a:spcAft>
                  <a:spcPct val="15000"/>
                </a:spcAft>
                <a:buFontTx/>
                <a:buChar char="•"/>
                <a:defRPr/>
              </a:pPr>
              <a:r>
                <a:rPr lang="en-US" sz="1600" b="1" dirty="0" smtClean="0">
                  <a:solidFill>
                    <a:srgbClr val="000000"/>
                  </a:solidFill>
                </a:rPr>
                <a:t>&lt; 28/01/19 </a:t>
              </a:r>
              <a:r>
                <a:rPr lang="en-US" sz="1600" b="1" dirty="0">
                  <a:solidFill>
                    <a:srgbClr val="000000"/>
                  </a:solidFill>
                </a:rPr>
                <a:t>– Notification of State Nodal Officers and nodal officers meeting </a:t>
              </a:r>
              <a:endParaRPr lang="en-GB" sz="1600" b="1" dirty="0">
                <a:solidFill>
                  <a:srgbClr val="000000"/>
                </a:solidFill>
              </a:endParaRPr>
            </a:p>
          </p:txBody>
        </p:sp>
        <p:sp>
          <p:nvSpPr>
            <p:cNvPr id="28" name="Freeform 27"/>
            <p:cNvSpPr/>
            <p:nvPr/>
          </p:nvSpPr>
          <p:spPr>
            <a:xfrm>
              <a:off x="258880" y="4629177"/>
              <a:ext cx="649226" cy="393695"/>
            </a:xfrm>
            <a:custGeom>
              <a:avLst/>
              <a:gdLst>
                <a:gd name="connsiteX0" fmla="*/ 0 w 394591"/>
                <a:gd name="connsiteY0" fmla="*/ 0 h 648838"/>
                <a:gd name="connsiteX1" fmla="*/ 197296 w 394591"/>
                <a:gd name="connsiteY1" fmla="*/ 0 h 648838"/>
                <a:gd name="connsiteX2" fmla="*/ 394591 w 394591"/>
                <a:gd name="connsiteY2" fmla="*/ 324419 h 648838"/>
                <a:gd name="connsiteX3" fmla="*/ 197296 w 394591"/>
                <a:gd name="connsiteY3" fmla="*/ 648838 h 648838"/>
                <a:gd name="connsiteX4" fmla="*/ 0 w 394591"/>
                <a:gd name="connsiteY4" fmla="*/ 648838 h 648838"/>
                <a:gd name="connsiteX5" fmla="*/ 197296 w 394591"/>
                <a:gd name="connsiteY5" fmla="*/ 324419 h 648838"/>
                <a:gd name="connsiteX6" fmla="*/ 0 w 394591"/>
                <a:gd name="connsiteY6" fmla="*/ 0 h 648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4591" h="648838">
                  <a:moveTo>
                    <a:pt x="394591" y="1"/>
                  </a:moveTo>
                  <a:lnTo>
                    <a:pt x="394591" y="324420"/>
                  </a:lnTo>
                  <a:lnTo>
                    <a:pt x="197296" y="648837"/>
                  </a:lnTo>
                  <a:lnTo>
                    <a:pt x="0" y="324420"/>
                  </a:lnTo>
                  <a:lnTo>
                    <a:pt x="0" y="1"/>
                  </a:lnTo>
                  <a:lnTo>
                    <a:pt x="197296" y="324420"/>
                  </a:lnTo>
                  <a:lnTo>
                    <a:pt x="394591" y="1"/>
                  </a:lnTo>
                  <a:close/>
                </a:path>
              </a:pathLst>
            </a:custGeom>
            <a:solidFill>
              <a:srgbClr val="69BFFF"/>
            </a:solidFill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0161" tIns="10160" rIns="10160" bIns="10161" spcCol="1270" anchor="ctr"/>
            <a:lstStyle/>
            <a:p>
              <a:pPr algn="ctr" defTabSz="7112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GB" sz="1600" b="1" dirty="0">
                <a:solidFill>
                  <a:srgbClr val="FFFFFF"/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29" name="Freeform 28"/>
            <p:cNvSpPr/>
            <p:nvPr/>
          </p:nvSpPr>
          <p:spPr>
            <a:xfrm>
              <a:off x="974774" y="4575202"/>
              <a:ext cx="7917706" cy="261935"/>
            </a:xfrm>
            <a:custGeom>
              <a:avLst/>
              <a:gdLst>
                <a:gd name="connsiteX0" fmla="*/ 43599 w 261586"/>
                <a:gd name="connsiteY0" fmla="*/ 0 h 7917016"/>
                <a:gd name="connsiteX1" fmla="*/ 217987 w 261586"/>
                <a:gd name="connsiteY1" fmla="*/ 0 h 7917016"/>
                <a:gd name="connsiteX2" fmla="*/ 261586 w 261586"/>
                <a:gd name="connsiteY2" fmla="*/ 43599 h 7917016"/>
                <a:gd name="connsiteX3" fmla="*/ 261586 w 261586"/>
                <a:gd name="connsiteY3" fmla="*/ 7917016 h 7917016"/>
                <a:gd name="connsiteX4" fmla="*/ 261586 w 261586"/>
                <a:gd name="connsiteY4" fmla="*/ 7917016 h 7917016"/>
                <a:gd name="connsiteX5" fmla="*/ 0 w 261586"/>
                <a:gd name="connsiteY5" fmla="*/ 7917016 h 7917016"/>
                <a:gd name="connsiteX6" fmla="*/ 0 w 261586"/>
                <a:gd name="connsiteY6" fmla="*/ 7917016 h 7917016"/>
                <a:gd name="connsiteX7" fmla="*/ 0 w 261586"/>
                <a:gd name="connsiteY7" fmla="*/ 43599 h 7917016"/>
                <a:gd name="connsiteX8" fmla="*/ 43599 w 261586"/>
                <a:gd name="connsiteY8" fmla="*/ 0 h 7917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586" h="7917016">
                  <a:moveTo>
                    <a:pt x="261586" y="1319553"/>
                  </a:moveTo>
                  <a:lnTo>
                    <a:pt x="261586" y="6597463"/>
                  </a:lnTo>
                  <a:cubicBezTo>
                    <a:pt x="261586" y="7326222"/>
                    <a:pt x="260941" y="7917001"/>
                    <a:pt x="260145" y="7917001"/>
                  </a:cubicBezTo>
                  <a:lnTo>
                    <a:pt x="0" y="7917001"/>
                  </a:lnTo>
                  <a:lnTo>
                    <a:pt x="0" y="7917001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260145" y="15"/>
                  </a:lnTo>
                  <a:cubicBezTo>
                    <a:pt x="260941" y="15"/>
                    <a:pt x="261586" y="590794"/>
                    <a:pt x="261586" y="1319553"/>
                  </a:cubicBezTo>
                  <a:close/>
                </a:path>
              </a:pathLst>
            </a:custGeom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13792" tIns="22930" rIns="22930" bIns="22931" anchor="ctr"/>
            <a:lstStyle/>
            <a:p>
              <a:pPr marL="171450" lvl="1" indent="-171450" defTabSz="711200">
                <a:lnSpc>
                  <a:spcPct val="90000"/>
                </a:lnSpc>
                <a:spcAft>
                  <a:spcPct val="15000"/>
                </a:spcAft>
                <a:buFontTx/>
                <a:buChar char="•"/>
                <a:defRPr/>
              </a:pPr>
              <a:r>
                <a:rPr lang="en-US" sz="1600" b="1" dirty="0" smtClean="0">
                  <a:solidFill>
                    <a:srgbClr val="000000"/>
                  </a:solidFill>
                </a:rPr>
                <a:t>&lt; 30/01/19 - </a:t>
              </a:r>
              <a:r>
                <a:rPr lang="en-US" sz="1600" b="1" dirty="0">
                  <a:solidFill>
                    <a:srgbClr val="000000"/>
                  </a:solidFill>
                </a:rPr>
                <a:t>Final Verification of Preparedness by PD(RCH)/ MD(NHM) </a:t>
              </a:r>
              <a:endParaRPr lang="en-GB" sz="1600" b="1" dirty="0">
                <a:solidFill>
                  <a:srgbClr val="000000"/>
                </a:solidFill>
              </a:endParaRPr>
            </a:p>
          </p:txBody>
        </p:sp>
        <p:sp>
          <p:nvSpPr>
            <p:cNvPr id="30" name="Freeform 29"/>
            <p:cNvSpPr/>
            <p:nvPr/>
          </p:nvSpPr>
          <p:spPr>
            <a:xfrm>
              <a:off x="258880" y="4994297"/>
              <a:ext cx="649226" cy="395283"/>
            </a:xfrm>
            <a:custGeom>
              <a:avLst/>
              <a:gdLst>
                <a:gd name="connsiteX0" fmla="*/ 0 w 394591"/>
                <a:gd name="connsiteY0" fmla="*/ 0 h 648838"/>
                <a:gd name="connsiteX1" fmla="*/ 197296 w 394591"/>
                <a:gd name="connsiteY1" fmla="*/ 0 h 648838"/>
                <a:gd name="connsiteX2" fmla="*/ 394591 w 394591"/>
                <a:gd name="connsiteY2" fmla="*/ 324419 h 648838"/>
                <a:gd name="connsiteX3" fmla="*/ 197296 w 394591"/>
                <a:gd name="connsiteY3" fmla="*/ 648838 h 648838"/>
                <a:gd name="connsiteX4" fmla="*/ 0 w 394591"/>
                <a:gd name="connsiteY4" fmla="*/ 648838 h 648838"/>
                <a:gd name="connsiteX5" fmla="*/ 197296 w 394591"/>
                <a:gd name="connsiteY5" fmla="*/ 324419 h 648838"/>
                <a:gd name="connsiteX6" fmla="*/ 0 w 394591"/>
                <a:gd name="connsiteY6" fmla="*/ 0 h 648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4591" h="648838">
                  <a:moveTo>
                    <a:pt x="394591" y="1"/>
                  </a:moveTo>
                  <a:lnTo>
                    <a:pt x="394591" y="324420"/>
                  </a:lnTo>
                  <a:lnTo>
                    <a:pt x="197296" y="648837"/>
                  </a:lnTo>
                  <a:lnTo>
                    <a:pt x="0" y="324420"/>
                  </a:lnTo>
                  <a:lnTo>
                    <a:pt x="0" y="1"/>
                  </a:lnTo>
                  <a:lnTo>
                    <a:pt x="197296" y="324420"/>
                  </a:lnTo>
                  <a:lnTo>
                    <a:pt x="394591" y="1"/>
                  </a:lnTo>
                  <a:close/>
                </a:path>
              </a:pathLst>
            </a:custGeom>
            <a:solidFill>
              <a:srgbClr val="69BFFF"/>
            </a:solidFill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0161" tIns="10160" rIns="10160" bIns="10161" spcCol="1270" anchor="ctr"/>
            <a:lstStyle/>
            <a:p>
              <a:pPr algn="ctr" defTabSz="7112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GB" sz="1600" b="1" dirty="0">
                <a:solidFill>
                  <a:srgbClr val="FFFFFF"/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31" name="Freeform 30"/>
            <p:cNvSpPr/>
            <p:nvPr/>
          </p:nvSpPr>
          <p:spPr>
            <a:xfrm>
              <a:off x="974774" y="4940323"/>
              <a:ext cx="7917706" cy="261935"/>
            </a:xfrm>
            <a:custGeom>
              <a:avLst/>
              <a:gdLst>
                <a:gd name="connsiteX0" fmla="*/ 43599 w 261586"/>
                <a:gd name="connsiteY0" fmla="*/ 0 h 7917016"/>
                <a:gd name="connsiteX1" fmla="*/ 217987 w 261586"/>
                <a:gd name="connsiteY1" fmla="*/ 0 h 7917016"/>
                <a:gd name="connsiteX2" fmla="*/ 261586 w 261586"/>
                <a:gd name="connsiteY2" fmla="*/ 43599 h 7917016"/>
                <a:gd name="connsiteX3" fmla="*/ 261586 w 261586"/>
                <a:gd name="connsiteY3" fmla="*/ 7917016 h 7917016"/>
                <a:gd name="connsiteX4" fmla="*/ 261586 w 261586"/>
                <a:gd name="connsiteY4" fmla="*/ 7917016 h 7917016"/>
                <a:gd name="connsiteX5" fmla="*/ 0 w 261586"/>
                <a:gd name="connsiteY5" fmla="*/ 7917016 h 7917016"/>
                <a:gd name="connsiteX6" fmla="*/ 0 w 261586"/>
                <a:gd name="connsiteY6" fmla="*/ 7917016 h 7917016"/>
                <a:gd name="connsiteX7" fmla="*/ 0 w 261586"/>
                <a:gd name="connsiteY7" fmla="*/ 43599 h 7917016"/>
                <a:gd name="connsiteX8" fmla="*/ 43599 w 261586"/>
                <a:gd name="connsiteY8" fmla="*/ 0 h 7917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586" h="7917016">
                  <a:moveTo>
                    <a:pt x="261586" y="1319553"/>
                  </a:moveTo>
                  <a:lnTo>
                    <a:pt x="261586" y="6597463"/>
                  </a:lnTo>
                  <a:cubicBezTo>
                    <a:pt x="261586" y="7326222"/>
                    <a:pt x="260941" y="7917001"/>
                    <a:pt x="260145" y="7917001"/>
                  </a:cubicBezTo>
                  <a:lnTo>
                    <a:pt x="0" y="7917001"/>
                  </a:lnTo>
                  <a:lnTo>
                    <a:pt x="0" y="7917001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260145" y="15"/>
                  </a:lnTo>
                  <a:cubicBezTo>
                    <a:pt x="260941" y="15"/>
                    <a:pt x="261586" y="590794"/>
                    <a:pt x="261586" y="1319553"/>
                  </a:cubicBezTo>
                  <a:close/>
                </a:path>
              </a:pathLst>
            </a:custGeom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13792" tIns="22930" rIns="22930" bIns="22931" spcCol="1270" anchor="ctr"/>
            <a:lstStyle/>
            <a:p>
              <a:pPr marL="171450" lvl="1" indent="-171450" defTabSz="71120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r>
                <a:rPr lang="en-US" sz="1600" b="1" dirty="0" smtClean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cs typeface="Calibri" panose="020F0502020204030204" pitchFamily="34" charset="0"/>
                </a:rPr>
                <a:t>&lt; 01/02/19 </a:t>
              </a:r>
              <a:r>
                <a:rPr lang="en-US" sz="1600" b="1" dirty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cs typeface="Calibri" panose="020F0502020204030204" pitchFamily="34" charset="0"/>
                </a:rPr>
                <a:t>- Press Conference by Health Minister, Karnataka State</a:t>
              </a:r>
              <a:endParaRPr lang="en-GB" sz="1600" b="1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32" name="Freeform 31"/>
            <p:cNvSpPr/>
            <p:nvPr/>
          </p:nvSpPr>
          <p:spPr>
            <a:xfrm>
              <a:off x="258880" y="5361006"/>
              <a:ext cx="649226" cy="393695"/>
            </a:xfrm>
            <a:custGeom>
              <a:avLst/>
              <a:gdLst>
                <a:gd name="connsiteX0" fmla="*/ 0 w 394591"/>
                <a:gd name="connsiteY0" fmla="*/ 0 h 648838"/>
                <a:gd name="connsiteX1" fmla="*/ 197296 w 394591"/>
                <a:gd name="connsiteY1" fmla="*/ 0 h 648838"/>
                <a:gd name="connsiteX2" fmla="*/ 394591 w 394591"/>
                <a:gd name="connsiteY2" fmla="*/ 324419 h 648838"/>
                <a:gd name="connsiteX3" fmla="*/ 197296 w 394591"/>
                <a:gd name="connsiteY3" fmla="*/ 648838 h 648838"/>
                <a:gd name="connsiteX4" fmla="*/ 0 w 394591"/>
                <a:gd name="connsiteY4" fmla="*/ 648838 h 648838"/>
                <a:gd name="connsiteX5" fmla="*/ 197296 w 394591"/>
                <a:gd name="connsiteY5" fmla="*/ 324419 h 648838"/>
                <a:gd name="connsiteX6" fmla="*/ 0 w 394591"/>
                <a:gd name="connsiteY6" fmla="*/ 0 h 648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4591" h="648838">
                  <a:moveTo>
                    <a:pt x="394591" y="1"/>
                  </a:moveTo>
                  <a:lnTo>
                    <a:pt x="394591" y="324420"/>
                  </a:lnTo>
                  <a:lnTo>
                    <a:pt x="197296" y="648837"/>
                  </a:lnTo>
                  <a:lnTo>
                    <a:pt x="0" y="324420"/>
                  </a:lnTo>
                  <a:lnTo>
                    <a:pt x="0" y="1"/>
                  </a:lnTo>
                  <a:lnTo>
                    <a:pt x="197296" y="324420"/>
                  </a:lnTo>
                  <a:lnTo>
                    <a:pt x="394591" y="1"/>
                  </a:lnTo>
                  <a:close/>
                </a:path>
              </a:pathLst>
            </a:custGeom>
            <a:solidFill>
              <a:srgbClr val="69BFFF"/>
            </a:solidFill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0161" tIns="10160" rIns="10160" bIns="10161" spcCol="1270" anchor="ctr"/>
            <a:lstStyle/>
            <a:p>
              <a:pPr algn="ctr" defTabSz="7112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GB" sz="1600" b="1" dirty="0">
                <a:solidFill>
                  <a:srgbClr val="FFFFFF"/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33" name="Freeform 32"/>
            <p:cNvSpPr/>
            <p:nvPr/>
          </p:nvSpPr>
          <p:spPr>
            <a:xfrm>
              <a:off x="974774" y="5307032"/>
              <a:ext cx="7917706" cy="261934"/>
            </a:xfrm>
            <a:custGeom>
              <a:avLst/>
              <a:gdLst>
                <a:gd name="connsiteX0" fmla="*/ 43599 w 261586"/>
                <a:gd name="connsiteY0" fmla="*/ 0 h 7917016"/>
                <a:gd name="connsiteX1" fmla="*/ 217987 w 261586"/>
                <a:gd name="connsiteY1" fmla="*/ 0 h 7917016"/>
                <a:gd name="connsiteX2" fmla="*/ 261586 w 261586"/>
                <a:gd name="connsiteY2" fmla="*/ 43599 h 7917016"/>
                <a:gd name="connsiteX3" fmla="*/ 261586 w 261586"/>
                <a:gd name="connsiteY3" fmla="*/ 7917016 h 7917016"/>
                <a:gd name="connsiteX4" fmla="*/ 261586 w 261586"/>
                <a:gd name="connsiteY4" fmla="*/ 7917016 h 7917016"/>
                <a:gd name="connsiteX5" fmla="*/ 0 w 261586"/>
                <a:gd name="connsiteY5" fmla="*/ 7917016 h 7917016"/>
                <a:gd name="connsiteX6" fmla="*/ 0 w 261586"/>
                <a:gd name="connsiteY6" fmla="*/ 7917016 h 7917016"/>
                <a:gd name="connsiteX7" fmla="*/ 0 w 261586"/>
                <a:gd name="connsiteY7" fmla="*/ 43599 h 7917016"/>
                <a:gd name="connsiteX8" fmla="*/ 43599 w 261586"/>
                <a:gd name="connsiteY8" fmla="*/ 0 h 7917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586" h="7917016">
                  <a:moveTo>
                    <a:pt x="261586" y="1319553"/>
                  </a:moveTo>
                  <a:lnTo>
                    <a:pt x="261586" y="6597463"/>
                  </a:lnTo>
                  <a:cubicBezTo>
                    <a:pt x="261586" y="7326222"/>
                    <a:pt x="260941" y="7917001"/>
                    <a:pt x="260145" y="7917001"/>
                  </a:cubicBezTo>
                  <a:lnTo>
                    <a:pt x="0" y="7917001"/>
                  </a:lnTo>
                  <a:lnTo>
                    <a:pt x="0" y="7917001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260145" y="15"/>
                  </a:lnTo>
                  <a:cubicBezTo>
                    <a:pt x="260941" y="15"/>
                    <a:pt x="261586" y="590794"/>
                    <a:pt x="261586" y="1319553"/>
                  </a:cubicBezTo>
                  <a:close/>
                </a:path>
              </a:pathLst>
            </a:custGeom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13792" tIns="22930" rIns="22930" bIns="22931" anchor="ctr"/>
            <a:lstStyle/>
            <a:p>
              <a:pPr marL="171450" lvl="1" indent="-171450" defTabSz="711200">
                <a:lnSpc>
                  <a:spcPct val="90000"/>
                </a:lnSpc>
                <a:spcAft>
                  <a:spcPct val="15000"/>
                </a:spcAft>
                <a:buFontTx/>
                <a:buChar char="•"/>
                <a:defRPr/>
              </a:pPr>
              <a:r>
                <a:rPr lang="en-US" sz="1600" b="1" dirty="0" smtClean="0">
                  <a:solidFill>
                    <a:srgbClr val="000000"/>
                  </a:solidFill>
                </a:rPr>
                <a:t>02/02/19 </a:t>
              </a:r>
              <a:r>
                <a:rPr lang="en-US" sz="1600" b="1" dirty="0">
                  <a:solidFill>
                    <a:srgbClr val="000000"/>
                  </a:solidFill>
                </a:rPr>
                <a:t>- </a:t>
              </a:r>
              <a:r>
                <a:rPr lang="en-US" altLang="en-US" sz="1600" b="1" dirty="0">
                  <a:solidFill>
                    <a:srgbClr val="000000"/>
                  </a:solidFill>
                </a:rPr>
                <a:t>Nodal Officers reaching the Districts and reviewing preparations</a:t>
              </a:r>
              <a:endParaRPr lang="en-GB" sz="1600" b="1" dirty="0">
                <a:solidFill>
                  <a:srgbClr val="000000"/>
                </a:solidFill>
              </a:endParaRPr>
            </a:p>
          </p:txBody>
        </p:sp>
        <p:sp>
          <p:nvSpPr>
            <p:cNvPr id="34" name="Freeform 33"/>
            <p:cNvSpPr/>
            <p:nvPr/>
          </p:nvSpPr>
          <p:spPr>
            <a:xfrm>
              <a:off x="258880" y="5726127"/>
              <a:ext cx="649226" cy="395282"/>
            </a:xfrm>
            <a:custGeom>
              <a:avLst/>
              <a:gdLst>
                <a:gd name="connsiteX0" fmla="*/ 0 w 394591"/>
                <a:gd name="connsiteY0" fmla="*/ 0 h 648838"/>
                <a:gd name="connsiteX1" fmla="*/ 197296 w 394591"/>
                <a:gd name="connsiteY1" fmla="*/ 0 h 648838"/>
                <a:gd name="connsiteX2" fmla="*/ 394591 w 394591"/>
                <a:gd name="connsiteY2" fmla="*/ 324419 h 648838"/>
                <a:gd name="connsiteX3" fmla="*/ 197296 w 394591"/>
                <a:gd name="connsiteY3" fmla="*/ 648838 h 648838"/>
                <a:gd name="connsiteX4" fmla="*/ 0 w 394591"/>
                <a:gd name="connsiteY4" fmla="*/ 648838 h 648838"/>
                <a:gd name="connsiteX5" fmla="*/ 197296 w 394591"/>
                <a:gd name="connsiteY5" fmla="*/ 324419 h 648838"/>
                <a:gd name="connsiteX6" fmla="*/ 0 w 394591"/>
                <a:gd name="connsiteY6" fmla="*/ 0 h 648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4591" h="648838">
                  <a:moveTo>
                    <a:pt x="394591" y="1"/>
                  </a:moveTo>
                  <a:lnTo>
                    <a:pt x="394591" y="324420"/>
                  </a:lnTo>
                  <a:lnTo>
                    <a:pt x="197296" y="648837"/>
                  </a:lnTo>
                  <a:lnTo>
                    <a:pt x="0" y="324420"/>
                  </a:lnTo>
                  <a:lnTo>
                    <a:pt x="0" y="1"/>
                  </a:lnTo>
                  <a:lnTo>
                    <a:pt x="197296" y="324420"/>
                  </a:lnTo>
                  <a:lnTo>
                    <a:pt x="394591" y="1"/>
                  </a:lnTo>
                  <a:close/>
                </a:path>
              </a:pathLst>
            </a:custGeom>
            <a:solidFill>
              <a:srgbClr val="69BFFF"/>
            </a:solidFill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0161" tIns="10160" rIns="10160" bIns="10161" spcCol="1270" anchor="ctr"/>
            <a:lstStyle/>
            <a:p>
              <a:pPr algn="ctr" defTabSz="7112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GB" sz="1600" b="1" dirty="0">
                <a:solidFill>
                  <a:srgbClr val="FFFFFF"/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35" name="Freeform 34"/>
            <p:cNvSpPr/>
            <p:nvPr/>
          </p:nvSpPr>
          <p:spPr>
            <a:xfrm>
              <a:off x="974774" y="5673739"/>
              <a:ext cx="7917706" cy="260347"/>
            </a:xfrm>
            <a:custGeom>
              <a:avLst/>
              <a:gdLst>
                <a:gd name="connsiteX0" fmla="*/ 43599 w 261586"/>
                <a:gd name="connsiteY0" fmla="*/ 0 h 7917016"/>
                <a:gd name="connsiteX1" fmla="*/ 217987 w 261586"/>
                <a:gd name="connsiteY1" fmla="*/ 0 h 7917016"/>
                <a:gd name="connsiteX2" fmla="*/ 261586 w 261586"/>
                <a:gd name="connsiteY2" fmla="*/ 43599 h 7917016"/>
                <a:gd name="connsiteX3" fmla="*/ 261586 w 261586"/>
                <a:gd name="connsiteY3" fmla="*/ 7917016 h 7917016"/>
                <a:gd name="connsiteX4" fmla="*/ 261586 w 261586"/>
                <a:gd name="connsiteY4" fmla="*/ 7917016 h 7917016"/>
                <a:gd name="connsiteX5" fmla="*/ 0 w 261586"/>
                <a:gd name="connsiteY5" fmla="*/ 7917016 h 7917016"/>
                <a:gd name="connsiteX6" fmla="*/ 0 w 261586"/>
                <a:gd name="connsiteY6" fmla="*/ 7917016 h 7917016"/>
                <a:gd name="connsiteX7" fmla="*/ 0 w 261586"/>
                <a:gd name="connsiteY7" fmla="*/ 43599 h 7917016"/>
                <a:gd name="connsiteX8" fmla="*/ 43599 w 261586"/>
                <a:gd name="connsiteY8" fmla="*/ 0 h 7917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586" h="7917016">
                  <a:moveTo>
                    <a:pt x="261586" y="1319553"/>
                  </a:moveTo>
                  <a:lnTo>
                    <a:pt x="261586" y="6597463"/>
                  </a:lnTo>
                  <a:cubicBezTo>
                    <a:pt x="261586" y="7326222"/>
                    <a:pt x="260941" y="7917001"/>
                    <a:pt x="260145" y="7917001"/>
                  </a:cubicBezTo>
                  <a:lnTo>
                    <a:pt x="0" y="7917001"/>
                  </a:lnTo>
                  <a:lnTo>
                    <a:pt x="0" y="7917001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260145" y="15"/>
                  </a:lnTo>
                  <a:cubicBezTo>
                    <a:pt x="260941" y="15"/>
                    <a:pt x="261586" y="590794"/>
                    <a:pt x="261586" y="1319553"/>
                  </a:cubicBezTo>
                  <a:close/>
                </a:path>
              </a:pathLst>
            </a:custGeom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13792" tIns="22930" rIns="22930" bIns="22931" spcCol="1270" anchor="ctr"/>
            <a:lstStyle/>
            <a:p>
              <a:pPr marL="171450" lvl="1" indent="-171450" defTabSz="71120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r>
                <a:rPr lang="en-US" sz="1600" b="1" dirty="0" smtClean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cs typeface="Calibri" panose="020F0502020204030204" pitchFamily="34" charset="0"/>
                </a:rPr>
                <a:t>03/02/19 - </a:t>
              </a:r>
              <a:r>
                <a:rPr lang="en-US" sz="1600" b="1" dirty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cs typeface="Calibri" panose="020F0502020204030204" pitchFamily="34" charset="0"/>
                </a:rPr>
                <a:t>Inauguration by Chief Minister, Karnataka State</a:t>
              </a:r>
              <a:endParaRPr lang="en-GB" sz="1600" b="1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36" name="Freeform 35"/>
            <p:cNvSpPr/>
            <p:nvPr/>
          </p:nvSpPr>
          <p:spPr>
            <a:xfrm>
              <a:off x="258880" y="6092834"/>
              <a:ext cx="649226" cy="395283"/>
            </a:xfrm>
            <a:custGeom>
              <a:avLst/>
              <a:gdLst>
                <a:gd name="connsiteX0" fmla="*/ 0 w 394591"/>
                <a:gd name="connsiteY0" fmla="*/ 0 h 648838"/>
                <a:gd name="connsiteX1" fmla="*/ 197296 w 394591"/>
                <a:gd name="connsiteY1" fmla="*/ 0 h 648838"/>
                <a:gd name="connsiteX2" fmla="*/ 394591 w 394591"/>
                <a:gd name="connsiteY2" fmla="*/ 324419 h 648838"/>
                <a:gd name="connsiteX3" fmla="*/ 197296 w 394591"/>
                <a:gd name="connsiteY3" fmla="*/ 648838 h 648838"/>
                <a:gd name="connsiteX4" fmla="*/ 0 w 394591"/>
                <a:gd name="connsiteY4" fmla="*/ 648838 h 648838"/>
                <a:gd name="connsiteX5" fmla="*/ 197296 w 394591"/>
                <a:gd name="connsiteY5" fmla="*/ 324419 h 648838"/>
                <a:gd name="connsiteX6" fmla="*/ 0 w 394591"/>
                <a:gd name="connsiteY6" fmla="*/ 0 h 648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4591" h="648838">
                  <a:moveTo>
                    <a:pt x="394591" y="1"/>
                  </a:moveTo>
                  <a:lnTo>
                    <a:pt x="394591" y="324420"/>
                  </a:lnTo>
                  <a:lnTo>
                    <a:pt x="197296" y="648837"/>
                  </a:lnTo>
                  <a:lnTo>
                    <a:pt x="0" y="324420"/>
                  </a:lnTo>
                  <a:lnTo>
                    <a:pt x="0" y="1"/>
                  </a:lnTo>
                  <a:lnTo>
                    <a:pt x="197296" y="324420"/>
                  </a:lnTo>
                  <a:lnTo>
                    <a:pt x="394591" y="1"/>
                  </a:lnTo>
                  <a:close/>
                </a:path>
              </a:pathLst>
            </a:custGeom>
            <a:solidFill>
              <a:srgbClr val="69BFFF"/>
            </a:solidFill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5876" tIns="15875" rIns="15875" bIns="15876" spcCol="1270" anchor="ctr"/>
            <a:lstStyle/>
            <a:p>
              <a:pPr algn="ctr" defTabSz="11112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GB" sz="2500" b="1" dirty="0">
                <a:solidFill>
                  <a:srgbClr val="FFFFFF"/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38" name="Freeform 37"/>
            <p:cNvSpPr/>
            <p:nvPr/>
          </p:nvSpPr>
          <p:spPr>
            <a:xfrm>
              <a:off x="258880" y="6459543"/>
              <a:ext cx="649226" cy="393695"/>
            </a:xfrm>
            <a:custGeom>
              <a:avLst/>
              <a:gdLst>
                <a:gd name="connsiteX0" fmla="*/ 0 w 394591"/>
                <a:gd name="connsiteY0" fmla="*/ 0 h 648838"/>
                <a:gd name="connsiteX1" fmla="*/ 197296 w 394591"/>
                <a:gd name="connsiteY1" fmla="*/ 0 h 648838"/>
                <a:gd name="connsiteX2" fmla="*/ 394591 w 394591"/>
                <a:gd name="connsiteY2" fmla="*/ 324419 h 648838"/>
                <a:gd name="connsiteX3" fmla="*/ 197296 w 394591"/>
                <a:gd name="connsiteY3" fmla="*/ 648838 h 648838"/>
                <a:gd name="connsiteX4" fmla="*/ 0 w 394591"/>
                <a:gd name="connsiteY4" fmla="*/ 648838 h 648838"/>
                <a:gd name="connsiteX5" fmla="*/ 197296 w 394591"/>
                <a:gd name="connsiteY5" fmla="*/ 324419 h 648838"/>
                <a:gd name="connsiteX6" fmla="*/ 0 w 394591"/>
                <a:gd name="connsiteY6" fmla="*/ 0 h 648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4591" h="648838">
                  <a:moveTo>
                    <a:pt x="394591" y="1"/>
                  </a:moveTo>
                  <a:lnTo>
                    <a:pt x="394591" y="324420"/>
                  </a:lnTo>
                  <a:lnTo>
                    <a:pt x="197296" y="648837"/>
                  </a:lnTo>
                  <a:lnTo>
                    <a:pt x="0" y="324420"/>
                  </a:lnTo>
                  <a:lnTo>
                    <a:pt x="0" y="1"/>
                  </a:lnTo>
                  <a:lnTo>
                    <a:pt x="197296" y="324420"/>
                  </a:lnTo>
                  <a:lnTo>
                    <a:pt x="394591" y="1"/>
                  </a:lnTo>
                  <a:close/>
                </a:path>
              </a:pathLst>
            </a:custGeom>
            <a:solidFill>
              <a:srgbClr val="69BFFF"/>
            </a:solidFill>
            <a:ln>
              <a:solidFill>
                <a:schemeClr val="tx2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5876" tIns="15875" rIns="15875" bIns="15876" spcCol="1270" anchor="ctr"/>
            <a:lstStyle/>
            <a:p>
              <a:pPr algn="ctr" defTabSz="11112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GB" sz="2500" b="1" dirty="0">
                <a:solidFill>
                  <a:srgbClr val="FFFFFF"/>
                </a:solidFill>
                <a:cs typeface="Calibri" panose="020F0502020204030204" pitchFamily="34" charset="0"/>
              </a:endParaRPr>
            </a:p>
          </p:txBody>
        </p:sp>
      </p:grp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0" y="0"/>
            <a:ext cx="9144000" cy="400050"/>
          </a:xfrm>
          <a:prstGeom prst="rect">
            <a:avLst/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Calibri" pitchFamily="34" charset="0"/>
              </a:rPr>
              <a:t>STATE LEVEL  PROPOSED TIME LINE OF ACTIVITIES : NID </a:t>
            </a:r>
            <a:r>
              <a:rPr lang="en-US" altLang="en-US" sz="2000" b="1" dirty="0" smtClean="0">
                <a:solidFill>
                  <a:srgbClr val="FFFFFF"/>
                </a:solidFill>
                <a:latin typeface="Calibri" pitchFamily="34" charset="0"/>
              </a:rPr>
              <a:t>2019 – </a:t>
            </a:r>
            <a:r>
              <a:rPr lang="en-US" altLang="en-US" sz="2000" b="1" dirty="0">
                <a:solidFill>
                  <a:srgbClr val="FFFFFF"/>
                </a:solidFill>
                <a:latin typeface="Calibri" pitchFamily="34" charset="0"/>
              </a:rPr>
              <a:t>Karnataka</a:t>
            </a:r>
          </a:p>
        </p:txBody>
      </p:sp>
      <p:sp>
        <p:nvSpPr>
          <p:cNvPr id="40" name="Freeform 39"/>
          <p:cNvSpPr/>
          <p:nvPr/>
        </p:nvSpPr>
        <p:spPr bwMode="auto">
          <a:xfrm>
            <a:off x="974725" y="6093296"/>
            <a:ext cx="7916862" cy="401637"/>
          </a:xfrm>
          <a:custGeom>
            <a:avLst/>
            <a:gdLst>
              <a:gd name="connsiteX0" fmla="*/ 66721 w 400320"/>
              <a:gd name="connsiteY0" fmla="*/ 0 h 7917016"/>
              <a:gd name="connsiteX1" fmla="*/ 333599 w 400320"/>
              <a:gd name="connsiteY1" fmla="*/ 0 h 7917016"/>
              <a:gd name="connsiteX2" fmla="*/ 400320 w 400320"/>
              <a:gd name="connsiteY2" fmla="*/ 66721 h 7917016"/>
              <a:gd name="connsiteX3" fmla="*/ 400320 w 400320"/>
              <a:gd name="connsiteY3" fmla="*/ 7917016 h 7917016"/>
              <a:gd name="connsiteX4" fmla="*/ 400320 w 400320"/>
              <a:gd name="connsiteY4" fmla="*/ 7917016 h 7917016"/>
              <a:gd name="connsiteX5" fmla="*/ 0 w 400320"/>
              <a:gd name="connsiteY5" fmla="*/ 7917016 h 7917016"/>
              <a:gd name="connsiteX6" fmla="*/ 0 w 400320"/>
              <a:gd name="connsiteY6" fmla="*/ 7917016 h 7917016"/>
              <a:gd name="connsiteX7" fmla="*/ 0 w 400320"/>
              <a:gd name="connsiteY7" fmla="*/ 66721 h 7917016"/>
              <a:gd name="connsiteX8" fmla="*/ 66721 w 400320"/>
              <a:gd name="connsiteY8" fmla="*/ 0 h 7917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0320" h="7917016">
                <a:moveTo>
                  <a:pt x="400320" y="1319529"/>
                </a:moveTo>
                <a:lnTo>
                  <a:pt x="400320" y="6597487"/>
                </a:lnTo>
                <a:cubicBezTo>
                  <a:pt x="400320" y="7326237"/>
                  <a:pt x="398810" y="7917006"/>
                  <a:pt x="396946" y="7917006"/>
                </a:cubicBezTo>
                <a:lnTo>
                  <a:pt x="0" y="7917006"/>
                </a:lnTo>
                <a:lnTo>
                  <a:pt x="0" y="7917006"/>
                </a:lnTo>
                <a:lnTo>
                  <a:pt x="0" y="10"/>
                </a:lnTo>
                <a:lnTo>
                  <a:pt x="0" y="10"/>
                </a:lnTo>
                <a:lnTo>
                  <a:pt x="396946" y="10"/>
                </a:lnTo>
                <a:cubicBezTo>
                  <a:pt x="398810" y="10"/>
                  <a:pt x="400320" y="590779"/>
                  <a:pt x="400320" y="1319529"/>
                </a:cubicBezTo>
                <a:close/>
              </a:path>
            </a:pathLst>
          </a:custGeom>
          <a:ln>
            <a:solidFill>
              <a:schemeClr val="tx2"/>
            </a:solidFill>
          </a:ln>
        </p:spPr>
        <p:style>
          <a:lnRef idx="2">
            <a:scrgbClr r="0" g="0" b="0"/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lIns="156464" tIns="33512" rIns="33512" bIns="33513" spcCol="1270" anchor="ctr"/>
          <a:lstStyle/>
          <a:p>
            <a:pPr marL="171450" lvl="1" indent="-171450" defTabSz="800100">
              <a:lnSpc>
                <a:spcPct val="90000"/>
              </a:lnSpc>
              <a:spcAft>
                <a:spcPct val="15000"/>
              </a:spcAft>
              <a:buFontTx/>
              <a:buChar char="••"/>
              <a:defRPr/>
            </a:pPr>
            <a:r>
              <a:rPr lang="en-US" sz="2400" b="1" dirty="0" smtClean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cs typeface="Calibri" panose="020F0502020204030204" pitchFamily="34" charset="0"/>
              </a:rPr>
              <a:t>03</a:t>
            </a:r>
            <a:r>
              <a:rPr lang="en-US" sz="2400" b="1" baseline="30000" dirty="0" smtClean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cs typeface="Calibri" panose="020F0502020204030204" pitchFamily="34" charset="0"/>
              </a:rPr>
              <a:t>rd</a:t>
            </a:r>
            <a:r>
              <a:rPr lang="en-US" sz="2400" b="1" dirty="0" smtClean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cs typeface="Calibri" panose="020F0502020204030204" pitchFamily="34" charset="0"/>
              </a:rPr>
              <a:t>  February </a:t>
            </a:r>
            <a:r>
              <a:rPr lang="en-US" sz="2400" b="1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cs typeface="Calibri" panose="020F0502020204030204" pitchFamily="34" charset="0"/>
              </a:rPr>
              <a:t>to </a:t>
            </a:r>
            <a:r>
              <a:rPr lang="en-US" sz="2400" b="1" dirty="0" smtClean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cs typeface="Calibri" panose="020F0502020204030204" pitchFamily="34" charset="0"/>
              </a:rPr>
              <a:t>06</a:t>
            </a:r>
            <a:r>
              <a:rPr lang="en-US" sz="2400" b="1" baseline="30000" dirty="0" smtClean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cs typeface="Calibri" panose="020F0502020204030204" pitchFamily="34" charset="0"/>
              </a:rPr>
              <a:t>th</a:t>
            </a:r>
            <a:r>
              <a:rPr lang="en-US" sz="2400" b="1" dirty="0" smtClean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cs typeface="Calibri" panose="020F0502020204030204" pitchFamily="34" charset="0"/>
              </a:rPr>
              <a:t>  February 2019 </a:t>
            </a:r>
            <a:r>
              <a:rPr lang="en-US" sz="2400" b="1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cs typeface="Calibri" panose="020F0502020204030204" pitchFamily="34" charset="0"/>
              </a:rPr>
              <a:t>NID days</a:t>
            </a:r>
            <a:endParaRPr lang="en-GB" sz="2400" b="1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6985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1088"/>
            <a:ext cx="9142164" cy="825624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latin typeface="Times New Roman" pitchFamily="18" charset="0"/>
              </a:rPr>
              <a:t>Discussion points: 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764704"/>
            <a:ext cx="8229600" cy="4525963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en-US" altLang="en-US" sz="2800" dirty="0" smtClean="0">
                <a:latin typeface="Times New Roman" pitchFamily="18" charset="0"/>
              </a:rPr>
              <a:t>Campaign Target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 smtClean="0">
                <a:latin typeface="Times New Roman" pitchFamily="18" charset="0"/>
              </a:rPr>
              <a:t>District targets will be considered (realistic)</a:t>
            </a:r>
          </a:p>
          <a:p>
            <a:pPr lvl="1">
              <a:lnSpc>
                <a:spcPct val="80000"/>
              </a:lnSpc>
            </a:pPr>
            <a:endParaRPr lang="en-US" altLang="en-US" sz="2000" dirty="0" smtClean="0">
              <a:latin typeface="Times New Roman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en-US" sz="2400" dirty="0" smtClean="0">
                <a:latin typeface="Times New Roman" pitchFamily="18" charset="0"/>
              </a:rPr>
              <a:t>Budget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 smtClean="0">
                <a:latin typeface="Times New Roman" pitchFamily="18" charset="0"/>
              </a:rPr>
              <a:t>Same budget from GOI as last year but only for one round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 smtClean="0">
                <a:latin typeface="Times New Roman" pitchFamily="18" charset="0"/>
              </a:rPr>
              <a:t>Pulse polio head from ZP budget- For additional booths, mobile teams ; seek early approval through DHS</a:t>
            </a:r>
          </a:p>
          <a:p>
            <a:pPr>
              <a:lnSpc>
                <a:spcPct val="80000"/>
              </a:lnSpc>
            </a:pPr>
            <a:endParaRPr lang="en-US" altLang="en-US" sz="2800" dirty="0">
              <a:latin typeface="Times New Roman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en-US" sz="2800" dirty="0" smtClean="0">
                <a:latin typeface="Times New Roman" pitchFamily="18" charset="0"/>
              </a:rPr>
              <a:t>Printing of IEC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>
                <a:latin typeface="Times New Roman" pitchFamily="18" charset="0"/>
              </a:rPr>
              <a:t>District Level printing guidelines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>
                <a:latin typeface="Times New Roman" pitchFamily="18" charset="0"/>
              </a:rPr>
              <a:t>Explore all IEC</a:t>
            </a:r>
          </a:p>
          <a:p>
            <a:pPr>
              <a:lnSpc>
                <a:spcPct val="80000"/>
              </a:lnSpc>
            </a:pPr>
            <a:endParaRPr lang="en-US" altLang="en-US" sz="2000" dirty="0">
              <a:latin typeface="Times New Roman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en-US" sz="2800" dirty="0" smtClean="0">
                <a:latin typeface="Times New Roman" pitchFamily="18" charset="0"/>
              </a:rPr>
              <a:t>Marker pens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>
                <a:latin typeface="Times New Roman" pitchFamily="18" charset="0"/>
              </a:rPr>
              <a:t>State level procurement</a:t>
            </a:r>
          </a:p>
          <a:p>
            <a:pPr lvl="1">
              <a:lnSpc>
                <a:spcPct val="80000"/>
              </a:lnSpc>
            </a:pPr>
            <a:endParaRPr lang="en-US" altLang="en-US" sz="2000" dirty="0">
              <a:latin typeface="Times New Roman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en-US" sz="2800" dirty="0">
                <a:latin typeface="Times New Roman" pitchFamily="18" charset="0"/>
              </a:rPr>
              <a:t>bOPV Vaccine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>
                <a:latin typeface="Times New Roman" pitchFamily="18" charset="0"/>
              </a:rPr>
              <a:t>GOI supply</a:t>
            </a:r>
          </a:p>
          <a:p>
            <a:pPr>
              <a:lnSpc>
                <a:spcPct val="80000"/>
              </a:lnSpc>
            </a:pPr>
            <a:endParaRPr lang="en-US" altLang="en-US" sz="2800" dirty="0">
              <a:latin typeface="Times New Roman" pitchFamily="18" charset="0"/>
            </a:endParaRPr>
          </a:p>
          <a:p>
            <a:pPr>
              <a:lnSpc>
                <a:spcPct val="80000"/>
              </a:lnSpc>
            </a:pPr>
            <a:endParaRPr lang="en-US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4280533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Box 4"/>
          <p:cNvSpPr txBox="1">
            <a:spLocks noChangeArrowheads="1"/>
          </p:cNvSpPr>
          <p:nvPr/>
        </p:nvSpPr>
        <p:spPr bwMode="auto">
          <a:xfrm>
            <a:off x="3131840" y="3068960"/>
            <a:ext cx="2917200" cy="741036"/>
          </a:xfrm>
          <a:prstGeom prst="rect">
            <a:avLst/>
          </a:prstGeom>
          <a:extLst/>
        </p:spPr>
        <p:txBody>
          <a:bodyPr lIns="0" tIns="93600" rIns="0" bIns="0"/>
          <a:lstStyle>
            <a:lvl1pPr defTabSz="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defTabSz="914400" eaLnBrk="1" hangingPunct="1"/>
            <a:r>
              <a:rPr lang="en-US" sz="4000" b="1" dirty="0">
                <a:solidFill>
                  <a:srgbClr val="0000CC"/>
                </a:solidFill>
                <a:latin typeface="Cambria" panose="02040503050406030204" pitchFamily="18" charset="0"/>
              </a:rPr>
              <a:t>Thank </a:t>
            </a:r>
            <a:r>
              <a:rPr lang="en-US" sz="4000" b="1" dirty="0" smtClean="0">
                <a:solidFill>
                  <a:srgbClr val="0000CC"/>
                </a:solidFill>
                <a:latin typeface="Cambria" panose="02040503050406030204" pitchFamily="18" charset="0"/>
              </a:rPr>
              <a:t>You</a:t>
            </a:r>
            <a:endParaRPr lang="en-US" sz="4000" b="1" dirty="0">
              <a:solidFill>
                <a:srgbClr val="0000CC"/>
              </a:solidFill>
              <a:latin typeface="Cambria" panose="020405030504060302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445BD1D-7F01-4766-9D76-15116978EDA8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6207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909</TotalTime>
  <Words>382</Words>
  <Application>Microsoft Office PowerPoint</Application>
  <PresentationFormat>On-screen Show (4:3)</PresentationFormat>
  <Paragraphs>54</Paragraphs>
  <Slides>5</Slides>
  <Notes>2</Notes>
  <HiddenSlides>0</HiddenSlides>
  <MMClips>0</MMClips>
  <ScaleCrop>false</ScaleCrop>
  <HeadingPairs>
    <vt:vector size="6" baseType="variant"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Office Theme</vt:lpstr>
      <vt:lpstr>2_Office Theme</vt:lpstr>
      <vt:lpstr>4_Office Theme</vt:lpstr>
      <vt:lpstr>think-cell Slide</vt:lpstr>
      <vt:lpstr>Pulse Polio National Immunization Day (NID)  3rd February 2019 </vt:lpstr>
      <vt:lpstr>PowerPoint Presentation</vt:lpstr>
      <vt:lpstr>PowerPoint Presentation</vt:lpstr>
      <vt:lpstr>Discussion points: </vt:lpstr>
      <vt:lpstr>PowerPoint Presentation</vt:lpstr>
    </vt:vector>
  </TitlesOfParts>
  <Company>WHO COUNTRY OFFICE INDIA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Sustaining quality polio campaigns Feedback &amp; operational guidelines</dc:title>
  <dc:creator>SMO Bangalore</dc:creator>
  <cp:lastModifiedBy>Dr.Anil kumar</cp:lastModifiedBy>
  <cp:revision>76</cp:revision>
  <dcterms:created xsi:type="dcterms:W3CDTF">2014-12-14T19:05:39Z</dcterms:created>
  <dcterms:modified xsi:type="dcterms:W3CDTF">2018-12-20T07:08:16Z</dcterms:modified>
</cp:coreProperties>
</file>